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81"/>
    <p:restoredTop sz="94589"/>
  </p:normalViewPr>
  <p:slideViewPr>
    <p:cSldViewPr snapToGrid="0">
      <p:cViewPr>
        <p:scale>
          <a:sx n="124" d="100"/>
          <a:sy n="12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4EE0-7094-7B6D-6A88-CE252F71D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A6A50-9FF1-5C1A-408E-70014C5A69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F49DF9-40F8-7E9F-A1BC-BC0A33C3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5E0CE-9CFB-B101-8D06-5564C59A3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4970A-0891-92AF-D662-F2F0DDC7A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39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ED20-113E-837E-940C-1950C238E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D768-AEB0-BC17-B701-31913E9CD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16192-165D-2168-584D-C3AF5461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AE0F-EDE4-E9C2-DA6F-758527EF9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64D2B-CC93-7A4D-FCC4-198C547B7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17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87A9-675F-C75D-9278-7BC946739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881A8-2B62-2E41-89F8-8AFB53A45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C2B11-E941-492C-8AE8-4135F4FC2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4980-ED08-96CB-9586-FE73864D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8CDDC-644F-A6F1-979D-9E4C493FC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4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86B77-DB51-FC1F-B53A-E94313BC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33D6D-1341-3572-9BD8-EFAD177DB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3C33-1A9D-4BE7-2C14-42E759EE3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4DF7F-37B4-A9BE-35D3-D7E92C11D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68369-FA2F-7E78-9279-3E05DB5C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7D39C-32A5-B6B8-D757-A9861FDAC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7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5D1B-FF73-4A0B-0D08-7CA284EEE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94B0E-D656-E8AF-66FD-A2257B400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CBC3A-D417-2DAA-C903-EA899C6E1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4C872D-69F2-CF5E-D809-B1B6A940B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419269-FD2C-11D9-A10F-155E882877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F1917-DE7E-B6B0-235E-91A2E96F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0E159-990A-2512-3DAC-A13E0EB13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62429-83DA-AE90-9FBC-0DB297F6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92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86D16-6870-3E31-F451-B20B1BDB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9D0FB-1297-EE2C-DC64-80E111BCE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AF99-322B-FCF6-A5F1-1E7CC9C22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AE429-8E0F-75A6-D018-33F7E75B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38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90A430-E958-1C25-D0BC-93FBE428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24890-AC72-70C5-5468-A47D48831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3DF7F-547E-1142-91A5-2D6FD1F21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8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B374-4D70-C181-D4DB-9217A91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2C813-65CA-CC95-2D3F-487A98E15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8D92AA-FDD3-D6AA-B447-7A1654D49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08952-C8A8-963E-8DE6-FC2C9773F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B10C0-DA1D-B4F9-F045-1833FC457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380AA-F1E2-AA06-E435-6F66AE81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92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31030-B816-5641-BDD5-E7044793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9CABB-BC52-576D-888C-601C5F84BB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563878-EFB5-2A54-F517-693D9CEDE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E8062-2073-C63C-70EA-C038BB965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4F4FD-E1DA-D76B-596B-1BC936DC9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D97F7-F756-6A7F-5032-6962DCD1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73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67CF1-9A18-C409-6F29-0586C4498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7AAE1-F7E5-63DD-CE7A-8222504806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68BB9-A79A-EE7F-A4CB-C7893F88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42764-A594-D3A2-BAA3-856BA0964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18CB5-B318-1D69-F6A6-C1E2BF4CC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22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3446EA-00A4-FD3D-6F1C-775D50636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89D68-4F7E-5497-0066-9291A0565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AA28D-27E5-7BF9-38C9-6CFA00D8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EC25C-4EFD-254E-A3D5-E57E2F53D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0F108-3E99-4BE8-8F46-628DAE27F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45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CC912D-642A-B1CD-185A-CB0DFCA6F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0A502-BFB8-603C-C52C-3FEB1965D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0A1E8-A31B-B115-CA1A-81C55410E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8F9AB-CD40-78E6-B818-E5DF96D0A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158A0-B2FD-6AC6-2D7F-8811F6CE1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29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FD4DB05A-DCF8-F7BA-FB5E-3F8B429D3D47}"/>
              </a:ext>
            </a:extLst>
          </p:cNvPr>
          <p:cNvGrpSpPr/>
          <p:nvPr/>
        </p:nvGrpSpPr>
        <p:grpSpPr>
          <a:xfrm>
            <a:off x="766118" y="378840"/>
            <a:ext cx="4612460" cy="2537708"/>
            <a:chOff x="766118" y="378840"/>
            <a:chExt cx="4612460" cy="253770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B8882ED-CDCB-6E16-8DD9-69E675442158}"/>
                </a:ext>
              </a:extLst>
            </p:cNvPr>
            <p:cNvSpPr txBox="1"/>
            <p:nvPr/>
          </p:nvSpPr>
          <p:spPr>
            <a:xfrm>
              <a:off x="766118" y="1346888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T cell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984B20-849C-8340-3AAC-6ACE33D2BBCA}"/>
                </a:ext>
              </a:extLst>
            </p:cNvPr>
            <p:cNvSpPr txBox="1"/>
            <p:nvPr/>
          </p:nvSpPr>
          <p:spPr>
            <a:xfrm>
              <a:off x="2396443" y="1346887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Prolif</a:t>
              </a:r>
              <a:r>
                <a:rPr lang="en-US" dirty="0"/>
                <a:t>. / Effector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7388BC-B945-4A96-885B-F71846490CD8}"/>
                </a:ext>
              </a:extLst>
            </p:cNvPr>
            <p:cNvSpPr txBox="1"/>
            <p:nvPr/>
          </p:nvSpPr>
          <p:spPr>
            <a:xfrm>
              <a:off x="4297468" y="378840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Short lived Effector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111428-BB61-0AE9-5D55-3380AB757FEC}"/>
                </a:ext>
              </a:extLst>
            </p:cNvPr>
            <p:cNvSpPr txBox="1"/>
            <p:nvPr/>
          </p:nvSpPr>
          <p:spPr>
            <a:xfrm>
              <a:off x="4223711" y="1993218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</a:t>
              </a:r>
            </a:p>
            <a:p>
              <a:pPr algn="ctr"/>
              <a:r>
                <a:rPr lang="en-US" dirty="0"/>
                <a:t>TCM cell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944116C-32B1-A0BB-BE31-8D5C6AF5C04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 flipV="1">
              <a:off x="1730711" y="1670053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62735A-E00D-FC42-0924-00F43AFBC20E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 flipV="1">
              <a:off x="3361036" y="840505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A87FFA-42A4-BF0F-8C35-76583EABCB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3361036" y="1993218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BF7DB5-FC00-420C-AB39-48C114E1E977}"/>
                </a:ext>
              </a:extLst>
            </p:cNvPr>
            <p:cNvSpPr/>
            <p:nvPr/>
          </p:nvSpPr>
          <p:spPr>
            <a:xfrm>
              <a:off x="2729875" y="791412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24A9765C-79F8-8E68-002A-9372F105C753}"/>
                </a:ext>
              </a:extLst>
            </p:cNvPr>
            <p:cNvSpPr/>
            <p:nvPr/>
          </p:nvSpPr>
          <p:spPr>
            <a:xfrm>
              <a:off x="2856081" y="2021983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FEF116D-D189-73A8-52D2-107F1E2E4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75116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AAABC2CD-48BA-3C8B-4982-78324653474E}"/>
                </a:ext>
              </a:extLst>
            </p:cNvPr>
            <p:cNvSpPr/>
            <p:nvPr/>
          </p:nvSpPr>
          <p:spPr>
            <a:xfrm>
              <a:off x="2611823" y="795710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A0F7226-6BF7-1F1B-74A0-2C45CF04A53D}"/>
                </a:ext>
              </a:extLst>
            </p:cNvPr>
            <p:cNvCxnSpPr>
              <a:cxnSpLocks/>
            </p:cNvCxnSpPr>
            <p:nvPr/>
          </p:nvCxnSpPr>
          <p:spPr>
            <a:xfrm>
              <a:off x="3310077" y="2084270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1C7CC9F-D1F5-F80C-6FDE-DCF7082581B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43726" y="1481954"/>
              <a:ext cx="359567" cy="0"/>
            </a:xfrm>
            <a:prstGeom prst="straightConnector1">
              <a:avLst/>
            </a:prstGeom>
            <a:ln w="920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48F4F5F-3A30-F2A0-E435-C594EA9C791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651810" y="186526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28FF241-01A3-C094-A755-9C53E4B53FE4}"/>
                </a:ext>
              </a:extLst>
            </p:cNvPr>
            <p:cNvSpPr txBox="1"/>
            <p:nvPr/>
          </p:nvSpPr>
          <p:spPr>
            <a:xfrm>
              <a:off x="4603805" y="1285754"/>
              <a:ext cx="759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death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5434B6E-20E0-884F-D46D-729AB0961A07}"/>
                </a:ext>
              </a:extLst>
            </p:cNvPr>
            <p:cNvSpPr txBox="1"/>
            <p:nvPr/>
          </p:nvSpPr>
          <p:spPr>
            <a:xfrm>
              <a:off x="4842854" y="1684709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9E90736-E922-45A1-8DEC-86D13A264697}"/>
              </a:ext>
            </a:extLst>
          </p:cNvPr>
          <p:cNvGrpSpPr/>
          <p:nvPr/>
        </p:nvGrpSpPr>
        <p:grpSpPr>
          <a:xfrm>
            <a:off x="6044310" y="364916"/>
            <a:ext cx="6147685" cy="2537708"/>
            <a:chOff x="6044310" y="364916"/>
            <a:chExt cx="6147685" cy="253770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17E6EF-7927-A5CA-47AF-67471FE1B943}"/>
                </a:ext>
              </a:extLst>
            </p:cNvPr>
            <p:cNvSpPr txBox="1"/>
            <p:nvPr/>
          </p:nvSpPr>
          <p:spPr>
            <a:xfrm>
              <a:off x="6044310" y="1332964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B cell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972B7F4-76A7-732C-6201-E0BDFA3324CD}"/>
                </a:ext>
              </a:extLst>
            </p:cNvPr>
            <p:cNvSpPr txBox="1"/>
            <p:nvPr/>
          </p:nvSpPr>
          <p:spPr>
            <a:xfrm>
              <a:off x="7674635" y="1332963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Prolif</a:t>
              </a:r>
              <a:r>
                <a:rPr lang="en-US" dirty="0"/>
                <a:t>.  GC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8B34A97-E541-3087-EFD6-1D16923DBCC6}"/>
                </a:ext>
              </a:extLst>
            </p:cNvPr>
            <p:cNvSpPr txBox="1"/>
            <p:nvPr/>
          </p:nvSpPr>
          <p:spPr>
            <a:xfrm>
              <a:off x="9575660" y="364916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PC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CE5066-E4F7-7AE9-774E-CD5C3A16DBE8}"/>
                </a:ext>
              </a:extLst>
            </p:cNvPr>
            <p:cNvSpPr txBox="1"/>
            <p:nvPr/>
          </p:nvSpPr>
          <p:spPr>
            <a:xfrm>
              <a:off x="9501903" y="1979294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 lived MBC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2508453-42D3-1CB2-8EB3-D00484B52AA9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 flipV="1">
              <a:off x="7008903" y="1656129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ABF7A61-34FB-1392-1B8C-261240B63D0F}"/>
                </a:ext>
              </a:extLst>
            </p:cNvPr>
            <p:cNvCxnSpPr>
              <a:cxnSpLocks/>
              <a:endCxn id="27" idx="1"/>
            </p:cNvCxnSpPr>
            <p:nvPr/>
          </p:nvCxnSpPr>
          <p:spPr>
            <a:xfrm flipV="1">
              <a:off x="8639228" y="826581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FBEC487-275A-4ADF-D29A-094AA6F36D7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8639228" y="1979294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5DD24BC-C3F7-3840-2D41-C37F5830F8FF}"/>
                </a:ext>
              </a:extLst>
            </p:cNvPr>
            <p:cNvSpPr/>
            <p:nvPr/>
          </p:nvSpPr>
          <p:spPr>
            <a:xfrm>
              <a:off x="7885721" y="777488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560F9E67-75E1-D3DC-6E04-EFBF112B3F52}"/>
                </a:ext>
              </a:extLst>
            </p:cNvPr>
            <p:cNvSpPr/>
            <p:nvPr/>
          </p:nvSpPr>
          <p:spPr>
            <a:xfrm>
              <a:off x="8041592" y="777487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28EA9D-1664-C4E8-67C8-B4DCE45C1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53818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EFF3668-3D60-977C-7F68-9E90DF2A536F}"/>
                </a:ext>
              </a:extLst>
            </p:cNvPr>
            <p:cNvCxnSpPr>
              <a:cxnSpLocks/>
            </p:cNvCxnSpPr>
            <p:nvPr/>
          </p:nvCxnSpPr>
          <p:spPr>
            <a:xfrm>
              <a:off x="8604986" y="2063552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254CBFC-B411-5A21-0C5E-B207A52B70F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980683" y="143012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E23166A-008D-2797-44D7-17EAF809A34F}"/>
                </a:ext>
              </a:extLst>
            </p:cNvPr>
            <p:cNvSpPr/>
            <p:nvPr/>
          </p:nvSpPr>
          <p:spPr>
            <a:xfrm>
              <a:off x="8024947" y="2033300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B3F0B56-2961-7EEC-2C32-A8A25D81BA56}"/>
                </a:ext>
              </a:extLst>
            </p:cNvPr>
            <p:cNvCxnSpPr/>
            <p:nvPr/>
          </p:nvCxnSpPr>
          <p:spPr>
            <a:xfrm>
              <a:off x="10627025" y="777487"/>
              <a:ext cx="4316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1D5FB7-F9EC-CE30-99A2-AA339118FFF2}"/>
                </a:ext>
              </a:extLst>
            </p:cNvPr>
            <p:cNvSpPr txBox="1"/>
            <p:nvPr/>
          </p:nvSpPr>
          <p:spPr>
            <a:xfrm>
              <a:off x="11030755" y="364916"/>
              <a:ext cx="11612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Secreted antibody</a:t>
              </a:r>
            </a:p>
            <a:p>
              <a:r>
                <a:rPr lang="en-US" dirty="0"/>
                <a:t>(T</a:t>
              </a:r>
              <a:r>
                <a:rPr lang="en-US" baseline="-25000" dirty="0"/>
                <a:t>1/2</a:t>
              </a:r>
              <a:r>
                <a:rPr lang="en-US" dirty="0"/>
                <a:t>~21d)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5E011E8-28CB-8517-8DB0-969D18F59C3A}"/>
                </a:ext>
              </a:extLst>
            </p:cNvPr>
            <p:cNvSpPr txBox="1"/>
            <p:nvPr/>
          </p:nvSpPr>
          <p:spPr>
            <a:xfrm>
              <a:off x="10145990" y="1337731"/>
              <a:ext cx="171393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 follows Power-Law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63C17D0-DD30-AF6E-3558-6D73C8B37845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55543" y="1844106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DE24D7-9051-041F-ACEC-697614DB20A3}"/>
                </a:ext>
              </a:extLst>
            </p:cNvPr>
            <p:cNvSpPr txBox="1"/>
            <p:nvPr/>
          </p:nvSpPr>
          <p:spPr>
            <a:xfrm>
              <a:off x="10146587" y="1663551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C95BD70-594C-E3B1-2AD9-FA00BB70392A}"/>
              </a:ext>
            </a:extLst>
          </p:cNvPr>
          <p:cNvGrpSpPr/>
          <p:nvPr/>
        </p:nvGrpSpPr>
        <p:grpSpPr>
          <a:xfrm>
            <a:off x="171618" y="3521652"/>
            <a:ext cx="11846954" cy="3279561"/>
            <a:chOff x="171618" y="3521652"/>
            <a:chExt cx="11846954" cy="327956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554098-CBEF-EF87-B466-2D9123097D5B}"/>
                </a:ext>
              </a:extLst>
            </p:cNvPr>
            <p:cNvGrpSpPr/>
            <p:nvPr/>
          </p:nvGrpSpPr>
          <p:grpSpPr>
            <a:xfrm>
              <a:off x="171618" y="3521652"/>
              <a:ext cx="11846954" cy="3279561"/>
              <a:chOff x="171618" y="3521652"/>
              <a:chExt cx="11846954" cy="3279561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264B08D-903B-6D12-5EE2-0AA0D40FD4E4}"/>
                  </a:ext>
                </a:extLst>
              </p:cNvPr>
              <p:cNvGrpSpPr/>
              <p:nvPr/>
            </p:nvGrpSpPr>
            <p:grpSpPr>
              <a:xfrm>
                <a:off x="301273" y="3593672"/>
                <a:ext cx="11717299" cy="3207541"/>
                <a:chOff x="301273" y="3593672"/>
                <a:chExt cx="11717299" cy="3207541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ACA4A44B-B402-FB68-D014-CAB9685541CA}"/>
                    </a:ext>
                  </a:extLst>
                </p:cNvPr>
                <p:cNvGrpSpPr/>
                <p:nvPr/>
              </p:nvGrpSpPr>
              <p:grpSpPr>
                <a:xfrm>
                  <a:off x="301273" y="3593672"/>
                  <a:ext cx="11717299" cy="3207541"/>
                  <a:chOff x="301273" y="3593672"/>
                  <a:chExt cx="11717299" cy="3207541"/>
                </a:xfrm>
              </p:grpSpPr>
              <p:grpSp>
                <p:nvGrpSpPr>
                  <p:cNvPr id="61" name="Group 60">
                    <a:extLst>
                      <a:ext uri="{FF2B5EF4-FFF2-40B4-BE49-F238E27FC236}">
                        <a16:creationId xmlns:a16="http://schemas.microsoft.com/office/drawing/2014/main" id="{FACE8469-4FFB-4067-B1D6-5445D18B0DBA}"/>
                      </a:ext>
                    </a:extLst>
                  </p:cNvPr>
                  <p:cNvGrpSpPr/>
                  <p:nvPr/>
                </p:nvGrpSpPr>
                <p:grpSpPr>
                  <a:xfrm>
                    <a:off x="301273" y="3904437"/>
                    <a:ext cx="6147685" cy="2896776"/>
                    <a:chOff x="6044310" y="364916"/>
                    <a:chExt cx="6147685" cy="2896776"/>
                  </a:xfrm>
                </p:grpSpPr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AD297702-72E1-E866-96EC-D1C7FF0013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44310" y="1332964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Naïve</a:t>
                      </a:r>
                    </a:p>
                    <a:p>
                      <a:pPr algn="ctr"/>
                      <a:r>
                        <a:rPr lang="en-US" dirty="0"/>
                        <a:t>B cell</a:t>
                      </a:r>
                    </a:p>
                  </p:txBody>
                </p:sp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CDCEAD18-7095-2A48-A409-79D96E4C4B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74635" y="1332963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 err="1"/>
                        <a:t>Prolif</a:t>
                      </a:r>
                      <a:r>
                        <a:rPr lang="en-US" dirty="0"/>
                        <a:t>.  GC</a:t>
                      </a:r>
                    </a:p>
                  </p:txBody>
                </p:sp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CD708520-C14F-419D-5817-F6E94CB5D6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75660" y="364916"/>
                      <a:ext cx="964593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Long-lived PC</a:t>
                      </a:r>
                    </a:p>
                  </p:txBody>
                </p:sp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E7EDB397-5909-FF2A-6E8E-8B11431B82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01903" y="1979294"/>
                      <a:ext cx="1051857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 lived MBC</a:t>
                      </a:r>
                    </a:p>
                  </p:txBody>
                </p:sp>
                <p:cxnSp>
                  <p:nvCxnSpPr>
                    <p:cNvPr id="66" name="Straight Arrow Connector 65">
                      <a:extLst>
                        <a:ext uri="{FF2B5EF4-FFF2-40B4-BE49-F238E27FC236}">
                          <a16:creationId xmlns:a16="http://schemas.microsoft.com/office/drawing/2014/main" id="{4FD34EDD-6279-0FAA-ABFB-E8108BDEB5B1}"/>
                        </a:ext>
                      </a:extLst>
                    </p:cNvPr>
                    <p:cNvCxnSpPr>
                      <a:stCxn id="62" idx="3"/>
                      <a:endCxn id="63" idx="1"/>
                    </p:cNvCxnSpPr>
                    <p:nvPr/>
                  </p:nvCxnSpPr>
                  <p:spPr>
                    <a:xfrm flipV="1">
                      <a:off x="7008903" y="1656129"/>
                      <a:ext cx="665732" cy="1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Straight Arrow Connector 66">
                      <a:extLst>
                        <a:ext uri="{FF2B5EF4-FFF2-40B4-BE49-F238E27FC236}">
                          <a16:creationId xmlns:a16="http://schemas.microsoft.com/office/drawing/2014/main" id="{2C53CA31-AF15-A838-CB18-7FC519576109}"/>
                        </a:ext>
                      </a:extLst>
                    </p:cNvPr>
                    <p:cNvCxnSpPr>
                      <a:cxnSpLocks/>
                      <a:endCxn id="64" idx="1"/>
                    </p:cNvCxnSpPr>
                    <p:nvPr/>
                  </p:nvCxnSpPr>
                  <p:spPr>
                    <a:xfrm flipV="1">
                      <a:off x="8639228" y="826581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8" name="Straight Arrow Connector 67">
                      <a:extLst>
                        <a:ext uri="{FF2B5EF4-FFF2-40B4-BE49-F238E27FC236}">
                          <a16:creationId xmlns:a16="http://schemas.microsoft.com/office/drawing/2014/main" id="{1525B1D6-0664-9019-F87D-5A5059936916}"/>
                        </a:ext>
                      </a:extLst>
                    </p:cNvPr>
                    <p:cNvCxnSpPr>
                      <a:cxnSpLocks/>
                      <a:endCxn id="65" idx="1"/>
                    </p:cNvCxnSpPr>
                    <p:nvPr/>
                  </p:nvCxnSpPr>
                  <p:spPr>
                    <a:xfrm>
                      <a:off x="8639228" y="1979294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9" name="Freeform 68">
                      <a:extLst>
                        <a:ext uri="{FF2B5EF4-FFF2-40B4-BE49-F238E27FC236}">
                          <a16:creationId xmlns:a16="http://schemas.microsoft.com/office/drawing/2014/main" id="{21605031-062F-16F2-90E9-D9403FFF98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85721" y="777488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70" name="Freeform 69">
                      <a:extLst>
                        <a:ext uri="{FF2B5EF4-FFF2-40B4-BE49-F238E27FC236}">
                          <a16:creationId xmlns:a16="http://schemas.microsoft.com/office/drawing/2014/main" id="{BFEC19DE-5A06-37C5-FBB1-5BFD526940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1592" y="777487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1" name="Straight Arrow Connector 70">
                      <a:extLst>
                        <a:ext uri="{FF2B5EF4-FFF2-40B4-BE49-F238E27FC236}">
                          <a16:creationId xmlns:a16="http://schemas.microsoft.com/office/drawing/2014/main" id="{431DF03C-F267-25CD-2B31-AC57A70BF4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8653818" y="913124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Arrow Connector 71">
                      <a:extLst>
                        <a:ext uri="{FF2B5EF4-FFF2-40B4-BE49-F238E27FC236}">
                          <a16:creationId xmlns:a16="http://schemas.microsoft.com/office/drawing/2014/main" id="{6699734D-01B9-9EA3-EE15-94B04A3173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604986" y="2063552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3" name="Straight Arrow Connector 72">
                      <a:extLst>
                        <a:ext uri="{FF2B5EF4-FFF2-40B4-BE49-F238E27FC236}">
                          <a16:creationId xmlns:a16="http://schemas.microsoft.com/office/drawing/2014/main" id="{4360E4AB-28B9-48A3-9DCF-02FD76335B4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>
                      <a:off x="9980683" y="143012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4" name="Freeform 73">
                      <a:extLst>
                        <a:ext uri="{FF2B5EF4-FFF2-40B4-BE49-F238E27FC236}">
                          <a16:creationId xmlns:a16="http://schemas.microsoft.com/office/drawing/2014/main" id="{F0C5E6B8-D505-2A6A-718F-5B90F6D270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24947" y="2033300"/>
                      <a:ext cx="1425997" cy="701065"/>
                    </a:xfrm>
                    <a:custGeom>
                      <a:avLst/>
                      <a:gdLst>
                        <a:gd name="connsiteX0" fmla="*/ 1374629 w 1425997"/>
                        <a:gd name="connsiteY0" fmla="*/ 689020 h 701065"/>
                        <a:gd name="connsiteX1" fmla="*/ 1284477 w 1425997"/>
                        <a:gd name="connsiteY1" fmla="*/ 695459 h 701065"/>
                        <a:gd name="connsiteX2" fmla="*/ 170454 w 1425997"/>
                        <a:gd name="connsiteY2" fmla="*/ 618186 h 701065"/>
                        <a:gd name="connsiteX3" fmla="*/ 22347 w 1425997"/>
                        <a:gd name="connsiteY3" fmla="*/ 0 h 7010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425997" h="701065">
                          <a:moveTo>
                            <a:pt x="1374629" y="689020"/>
                          </a:moveTo>
                          <a:cubicBezTo>
                            <a:pt x="1429901" y="698142"/>
                            <a:pt x="1485173" y="707265"/>
                            <a:pt x="1284477" y="695459"/>
                          </a:cubicBezTo>
                          <a:cubicBezTo>
                            <a:pt x="1083781" y="683653"/>
                            <a:pt x="380809" y="734096"/>
                            <a:pt x="170454" y="618186"/>
                          </a:cubicBezTo>
                          <a:cubicBezTo>
                            <a:pt x="-39901" y="502276"/>
                            <a:pt x="-8777" y="251138"/>
                            <a:pt x="22347" y="0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5" name="Straight Arrow Connector 74">
                      <a:extLst>
                        <a:ext uri="{FF2B5EF4-FFF2-40B4-BE49-F238E27FC236}">
                          <a16:creationId xmlns:a16="http://schemas.microsoft.com/office/drawing/2014/main" id="{13AC4218-2AD3-87EF-3BCA-429359AF2CD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10627025" y="777487"/>
                      <a:ext cx="431615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6" name="TextBox 75">
                      <a:extLst>
                        <a:ext uri="{FF2B5EF4-FFF2-40B4-BE49-F238E27FC236}">
                          <a16:creationId xmlns:a16="http://schemas.microsoft.com/office/drawing/2014/main" id="{95F5ED3C-4136-B1EF-6925-4750EF7BEF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30755" y="364916"/>
                      <a:ext cx="1161240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Secreted antibody</a:t>
                      </a:r>
                    </a:p>
                    <a:p>
                      <a:r>
                        <a:rPr lang="en-US" dirty="0"/>
                        <a:t>(T</a:t>
                      </a:r>
                      <a:r>
                        <a:rPr lang="en-US" baseline="-25000" dirty="0"/>
                        <a:t>1/2</a:t>
                      </a:r>
                      <a:r>
                        <a:rPr lang="en-US" dirty="0"/>
                        <a:t>~21d)</a:t>
                      </a:r>
                    </a:p>
                  </p:txBody>
                </p:sp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5C871103-AD85-DCB7-7A42-0EA4EEB0AC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02097" y="1423766"/>
                      <a:ext cx="2177776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  follows Power Law </a:t>
                      </a:r>
                      <a:br>
                        <a:rPr lang="en-US" sz="1400" dirty="0"/>
                      </a:br>
                      <a:r>
                        <a:rPr lang="en-US" sz="1400" dirty="0" err="1"/>
                        <a:t>m</a:t>
                      </a:r>
                      <a:r>
                        <a:rPr lang="en-US" sz="1400" baseline="-25000" dirty="0" err="1"/>
                        <a:t>p</a:t>
                      </a:r>
                      <a:r>
                        <a:rPr lang="en-US" sz="1400" dirty="0"/>
                        <a:t> (prime) and m</a:t>
                      </a:r>
                      <a:r>
                        <a:rPr lang="en-US" sz="1400" baseline="-25000" dirty="0"/>
                        <a:t>b</a:t>
                      </a:r>
                      <a:r>
                        <a:rPr lang="en-US" sz="1400" dirty="0"/>
                        <a:t> (boost)</a:t>
                      </a:r>
                    </a:p>
                  </p:txBody>
                </p:sp>
                <p:cxnSp>
                  <p:nvCxnSpPr>
                    <p:cNvPr id="78" name="Straight Arrow Connector 77">
                      <a:extLst>
                        <a:ext uri="{FF2B5EF4-FFF2-40B4-BE49-F238E27FC236}">
                          <a16:creationId xmlns:a16="http://schemas.microsoft.com/office/drawing/2014/main" id="{7BCA254A-21DB-CE97-357D-C29E959B5E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 flipV="1">
                      <a:off x="9955543" y="302944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78A96F3C-58C9-2DC8-6806-36FDA6B8E5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80065" y="2953915"/>
                      <a:ext cx="631904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</a:t>
                      </a:r>
                    </a:p>
                  </p:txBody>
                </p:sp>
              </p:grpSp>
              <p:pic>
                <p:nvPicPr>
                  <p:cNvPr id="5" name="Content Placeholder 4" descr="A graph of a graph with a line&#10;&#10;Description automatically generated">
                    <a:extLst>
                      <a:ext uri="{FF2B5EF4-FFF2-40B4-BE49-F238E27FC236}">
                        <a16:creationId xmlns:a16="http://schemas.microsoft.com/office/drawing/2014/main" id="{2D88332F-25E5-0A99-5906-60EB99BC1C6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6983127" y="3593672"/>
                    <a:ext cx="4876794" cy="2990924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B043819E-F070-76E1-D2ED-2BD612579E15}"/>
                      </a:ext>
                    </a:extLst>
                  </p:cNvPr>
                  <p:cNvSpPr txBox="1"/>
                  <p:nvPr/>
                </p:nvSpPr>
                <p:spPr>
                  <a:xfrm>
                    <a:off x="7566215" y="6307189"/>
                    <a:ext cx="4390946" cy="33855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0                                          1.0                                           2.0</a:t>
                    </a:r>
                  </a:p>
                </p:txBody>
              </p:sp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5C8F3164-D175-511A-B415-C2E6B7320D9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29185" y="6413871"/>
                    <a:ext cx="765274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years 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5FA88167-A114-A4F4-E12C-7DF5F133B36E}"/>
                      </a:ext>
                    </a:extLst>
                  </p:cNvPr>
                  <p:cNvSpPr txBox="1"/>
                  <p:nvPr/>
                </p:nvSpPr>
                <p:spPr>
                  <a:xfrm>
                    <a:off x="10304641" y="4467097"/>
                    <a:ext cx="171393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/>
                      <a:t>simulations from </a:t>
                    </a:r>
                    <a:r>
                      <a:rPr lang="en-US" dirty="0" err="1"/>
                      <a:t>eqn</a:t>
                    </a:r>
                    <a:r>
                      <a:rPr lang="en-US" dirty="0"/>
                      <a:t> 4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281BBF7-122B-FE27-8633-831869AE6FD4}"/>
                      </a:ext>
                    </a:extLst>
                  </p:cNvPr>
                  <p:cNvSpPr txBox="1"/>
                  <p:nvPr/>
                </p:nvSpPr>
                <p:spPr>
                  <a:xfrm>
                    <a:off x="9472834" y="5657314"/>
                    <a:ext cx="1569981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rgbClr val="FF0000"/>
                        </a:solidFill>
                      </a:rPr>
                      <a:t>simple power </a:t>
                    </a:r>
                    <a:br>
                      <a:rPr lang="en-US" dirty="0">
                        <a:solidFill>
                          <a:srgbClr val="FF0000"/>
                        </a:solidFill>
                      </a:rPr>
                    </a:br>
                    <a:r>
                      <a:rPr lang="en-US" dirty="0">
                        <a:solidFill>
                          <a:srgbClr val="FF0000"/>
                        </a:solidFill>
                      </a:rPr>
                      <a:t>law decay (m)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1BCDBD38-367E-BCF4-BD2A-4BF840DFE86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798413" y="4863575"/>
                    <a:ext cx="2282100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Scaled antibody titer </a:t>
                    </a:r>
                  </a:p>
                </p:txBody>
              </p:sp>
            </p:grpSp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9A18ECD4-FAA2-6EFB-F2C6-9EF707B8AD0C}"/>
                    </a:ext>
                  </a:extLst>
                </p:cNvPr>
                <p:cNvSpPr/>
                <p:nvPr/>
              </p:nvSpPr>
              <p:spPr>
                <a:xfrm>
                  <a:off x="7497007" y="3634720"/>
                  <a:ext cx="4317168" cy="263916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DD9DAF-BB79-7E8E-6B31-CADA1E0D086E}"/>
                  </a:ext>
                </a:extLst>
              </p:cNvPr>
              <p:cNvSpPr txBox="1"/>
              <p:nvPr/>
            </p:nvSpPr>
            <p:spPr>
              <a:xfrm>
                <a:off x="171618" y="3521652"/>
                <a:ext cx="3658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D24633-F0FC-FA05-EE83-F64C1D2EF459}"/>
                  </a:ext>
                </a:extLst>
              </p:cNvPr>
              <p:cNvSpPr txBox="1"/>
              <p:nvPr/>
            </p:nvSpPr>
            <p:spPr>
              <a:xfrm>
                <a:off x="6484215" y="3593672"/>
                <a:ext cx="3706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5B1B01-040E-7AC7-2057-122A268DD51B}"/>
                  </a:ext>
                </a:extLst>
              </p:cNvPr>
              <p:cNvSpPr txBox="1"/>
              <p:nvPr/>
            </p:nvSpPr>
            <p:spPr>
              <a:xfrm>
                <a:off x="7494287" y="5084501"/>
                <a:ext cx="15699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simple power </a:t>
                </a:r>
                <a:br>
                  <a:rPr lang="en-US" dirty="0"/>
                </a:br>
                <a:r>
                  <a:rPr lang="en-US" dirty="0"/>
                  <a:t>law decay (m)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B51380E-A1F5-78F2-E8F2-098256C742A8}"/>
                </a:ext>
              </a:extLst>
            </p:cNvPr>
            <p:cNvSpPr txBox="1"/>
            <p:nvPr/>
          </p:nvSpPr>
          <p:spPr>
            <a:xfrm>
              <a:off x="7005868" y="3567809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315A5-6C03-1025-6B56-5C56EA2557E7}"/>
                </a:ext>
              </a:extLst>
            </p:cNvPr>
            <p:cNvSpPr txBox="1"/>
            <p:nvPr/>
          </p:nvSpPr>
          <p:spPr>
            <a:xfrm>
              <a:off x="7006149" y="6077576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CD46B-52A8-6059-B9D9-F7026FB9E6D5}"/>
                </a:ext>
              </a:extLst>
            </p:cNvPr>
            <p:cNvSpPr txBox="1"/>
            <p:nvPr/>
          </p:nvSpPr>
          <p:spPr>
            <a:xfrm>
              <a:off x="7016656" y="4811230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1326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of a graph showing the value of a graph&#10;&#10;Description automatically generated with medium confidence">
            <a:extLst>
              <a:ext uri="{FF2B5EF4-FFF2-40B4-BE49-F238E27FC236}">
                <a16:creationId xmlns:a16="http://schemas.microsoft.com/office/drawing/2014/main" id="{88E7ECFA-223F-30CE-F9A1-F06A67668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7648" y="1825625"/>
            <a:ext cx="8536704" cy="4351338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351E83-3B93-75EA-A066-679F08092114}"/>
              </a:ext>
            </a:extLst>
          </p:cNvPr>
          <p:cNvSpPr txBox="1"/>
          <p:nvPr/>
        </p:nvSpPr>
        <p:spPr>
          <a:xfrm>
            <a:off x="3048000" y="32458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Times"/>
              </a:rPr>
              <a:t> 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CA1F9A-9FFC-C7F9-D7F3-2FD2790FBA4F}"/>
              </a:ext>
            </a:extLst>
          </p:cNvPr>
          <p:cNvSpPr/>
          <p:nvPr/>
        </p:nvSpPr>
        <p:spPr>
          <a:xfrm>
            <a:off x="1827648" y="1668483"/>
            <a:ext cx="1010555" cy="39010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E01A9-E00F-77EA-94C7-82EB809DF94E}"/>
              </a:ext>
            </a:extLst>
          </p:cNvPr>
          <p:cNvSpPr/>
          <p:nvPr/>
        </p:nvSpPr>
        <p:spPr>
          <a:xfrm rot="5400000">
            <a:off x="6358366" y="2170977"/>
            <a:ext cx="548059" cy="74639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845E63-56F0-B201-6E75-160197675224}"/>
              </a:ext>
            </a:extLst>
          </p:cNvPr>
          <p:cNvSpPr txBox="1"/>
          <p:nvPr/>
        </p:nvSpPr>
        <p:spPr>
          <a:xfrm>
            <a:off x="6011277" y="5838409"/>
            <a:ext cx="124223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time (years)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B5D2DD-EB6E-00F0-5938-62823657F26D}"/>
              </a:ext>
            </a:extLst>
          </p:cNvPr>
          <p:cNvSpPr txBox="1"/>
          <p:nvPr/>
        </p:nvSpPr>
        <p:spPr>
          <a:xfrm>
            <a:off x="2547420" y="518951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225DA-5C62-ACE6-11CE-ACB1AD461B41}"/>
              </a:ext>
            </a:extLst>
          </p:cNvPr>
          <p:cNvSpPr txBox="1"/>
          <p:nvPr/>
        </p:nvSpPr>
        <p:spPr>
          <a:xfrm>
            <a:off x="2539008" y="3510218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06E3FD-2E56-138B-7235-538183C67FEE}"/>
              </a:ext>
            </a:extLst>
          </p:cNvPr>
          <p:cNvSpPr txBox="1"/>
          <p:nvPr/>
        </p:nvSpPr>
        <p:spPr>
          <a:xfrm>
            <a:off x="2541482" y="1830919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BBA9A-CCD2-8B71-F7AD-3992D03B56BC}"/>
              </a:ext>
            </a:extLst>
          </p:cNvPr>
          <p:cNvSpPr txBox="1"/>
          <p:nvPr/>
        </p:nvSpPr>
        <p:spPr>
          <a:xfrm>
            <a:off x="3095029" y="558610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27110-6B4D-E0E9-8FEE-8177513036EE}"/>
              </a:ext>
            </a:extLst>
          </p:cNvPr>
          <p:cNvSpPr txBox="1"/>
          <p:nvPr/>
        </p:nvSpPr>
        <p:spPr>
          <a:xfrm>
            <a:off x="6471582" y="5593274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A4EED3-12FF-C3F2-EE34-B5F22B1505E7}"/>
              </a:ext>
            </a:extLst>
          </p:cNvPr>
          <p:cNvSpPr txBox="1"/>
          <p:nvPr/>
        </p:nvSpPr>
        <p:spPr>
          <a:xfrm>
            <a:off x="9842197" y="5592046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5B80CE-29F6-D6FB-2C44-6E2957EBDE68}"/>
              </a:ext>
            </a:extLst>
          </p:cNvPr>
          <p:cNvSpPr txBox="1"/>
          <p:nvPr/>
        </p:nvSpPr>
        <p:spPr>
          <a:xfrm rot="16200000">
            <a:off x="1226793" y="3259722"/>
            <a:ext cx="219693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log</a:t>
            </a:r>
            <a:r>
              <a:rPr lang="en-US" sz="1600" baseline="-25000" dirty="0"/>
              <a:t>10</a:t>
            </a:r>
            <a:r>
              <a:rPr lang="en-US" sz="1600" dirty="0"/>
              <a:t> scaled titer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AC22C99-D827-07F7-D0D6-3DD9C76FED39}"/>
              </a:ext>
            </a:extLst>
          </p:cNvPr>
          <p:cNvCxnSpPr>
            <a:cxnSpLocks/>
          </p:cNvCxnSpPr>
          <p:nvPr/>
        </p:nvCxnSpPr>
        <p:spPr>
          <a:xfrm flipV="1">
            <a:off x="3238702" y="4688919"/>
            <a:ext cx="0" cy="561250"/>
          </a:xfrm>
          <a:prstGeom prst="straightConnector1">
            <a:avLst/>
          </a:prstGeom>
          <a:ln>
            <a:solidFill>
              <a:srgbClr val="0432F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701B9BC-601E-03CF-F285-52E41F45E99C}"/>
              </a:ext>
            </a:extLst>
          </p:cNvPr>
          <p:cNvCxnSpPr>
            <a:cxnSpLocks/>
          </p:cNvCxnSpPr>
          <p:nvPr/>
        </p:nvCxnSpPr>
        <p:spPr>
          <a:xfrm flipV="1">
            <a:off x="6609315" y="4688919"/>
            <a:ext cx="0" cy="561250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F4BE12-C2D1-E52E-B522-F107C511BF61}"/>
              </a:ext>
            </a:extLst>
          </p:cNvPr>
          <p:cNvSpPr txBox="1"/>
          <p:nvPr/>
        </p:nvSpPr>
        <p:spPr>
          <a:xfrm>
            <a:off x="8162459" y="3670746"/>
            <a:ext cx="227845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observed (total) titer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D74D89-4D40-C7A4-905A-6F4336701226}"/>
              </a:ext>
            </a:extLst>
          </p:cNvPr>
          <p:cNvSpPr txBox="1"/>
          <p:nvPr/>
        </p:nvSpPr>
        <p:spPr>
          <a:xfrm>
            <a:off x="8875916" y="4062328"/>
            <a:ext cx="156499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from primary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7C7E-C8D2-8D79-4E99-80FDB79E34D7}"/>
              </a:ext>
            </a:extLst>
          </p:cNvPr>
          <p:cNvSpPr txBox="1"/>
          <p:nvPr/>
        </p:nvSpPr>
        <p:spPr>
          <a:xfrm>
            <a:off x="9061603" y="4550188"/>
            <a:ext cx="125805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from boost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0F5A12-2A8A-5B31-5111-4F8DB84D22CA}"/>
              </a:ext>
            </a:extLst>
          </p:cNvPr>
          <p:cNvSpPr txBox="1"/>
          <p:nvPr/>
        </p:nvSpPr>
        <p:spPr>
          <a:xfrm>
            <a:off x="6574112" y="4881474"/>
            <a:ext cx="109815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4x boost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B8147B-B992-6AF0-2348-5ABC3C51B485}"/>
              </a:ext>
            </a:extLst>
          </p:cNvPr>
          <p:cNvSpPr txBox="1"/>
          <p:nvPr/>
        </p:nvSpPr>
        <p:spPr>
          <a:xfrm>
            <a:off x="3208226" y="4862323"/>
            <a:ext cx="202285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primary response</a:t>
            </a:r>
          </a:p>
        </p:txBody>
      </p:sp>
    </p:spTree>
    <p:extLst>
      <p:ext uri="{BB962C8B-B14F-4D97-AF65-F5344CB8AC3E}">
        <p14:creationId xmlns:p14="http://schemas.microsoft.com/office/powerpoint/2010/main" val="2717727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8347F1-242A-B59F-C678-A6FACF6EF54A}"/>
              </a:ext>
            </a:extLst>
          </p:cNvPr>
          <p:cNvGrpSpPr/>
          <p:nvPr/>
        </p:nvGrpSpPr>
        <p:grpSpPr>
          <a:xfrm>
            <a:off x="120398" y="235808"/>
            <a:ext cx="11951204" cy="5054317"/>
            <a:chOff x="120398" y="235808"/>
            <a:chExt cx="11951204" cy="5054317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614EAB6-2DA9-1058-C225-7696A7A3EE24}"/>
                </a:ext>
              </a:extLst>
            </p:cNvPr>
            <p:cNvGrpSpPr/>
            <p:nvPr/>
          </p:nvGrpSpPr>
          <p:grpSpPr>
            <a:xfrm>
              <a:off x="120398" y="235808"/>
              <a:ext cx="11951204" cy="4855176"/>
              <a:chOff x="120398" y="235808"/>
              <a:chExt cx="11951204" cy="485517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8C298B4-0A7E-27AB-AD02-E5975D29A3FC}"/>
                  </a:ext>
                </a:extLst>
              </p:cNvPr>
              <p:cNvGrpSpPr/>
              <p:nvPr/>
            </p:nvGrpSpPr>
            <p:grpSpPr>
              <a:xfrm>
                <a:off x="120398" y="235808"/>
                <a:ext cx="11951204" cy="4855176"/>
                <a:chOff x="120398" y="235808"/>
                <a:chExt cx="11951204" cy="4855176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36D72E44-C4E3-6CB3-481A-C3DC59ED5C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0398" y="235808"/>
                  <a:ext cx="11951204" cy="485517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C79A37E-4BBF-CF1B-E992-5FD3AD7ADE09}"/>
                    </a:ext>
                  </a:extLst>
                </p:cNvPr>
                <p:cNvSpPr txBox="1"/>
                <p:nvPr/>
              </p:nvSpPr>
              <p:spPr>
                <a:xfrm>
                  <a:off x="4658497" y="345989"/>
                  <a:ext cx="490217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Primary vaccination  </a:t>
                  </a:r>
                  <a:r>
                    <a:rPr lang="en-US" dirty="0">
                      <a:solidFill>
                        <a:srgbClr val="0432FF"/>
                      </a:solidFill>
                    </a:rPr>
                    <a:t>First boost      </a:t>
                  </a:r>
                  <a:r>
                    <a:rPr lang="en-US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Second boost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B3D9CA-5F96-FB6D-480D-EC185489C0A2}"/>
                  </a:ext>
                </a:extLst>
              </p:cNvPr>
              <p:cNvSpPr txBox="1"/>
              <p:nvPr/>
            </p:nvSpPr>
            <p:spPr>
              <a:xfrm>
                <a:off x="2125362" y="2478730"/>
                <a:ext cx="889090" cy="369332"/>
              </a:xfrm>
              <a:prstGeom prst="rect">
                <a:avLst/>
              </a:prstGeom>
              <a:solidFill>
                <a:schemeClr val="bg1">
                  <a:alpha val="68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natural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AFE769-56F1-C71D-997E-6D642B88F168}"/>
                </a:ext>
              </a:extLst>
            </p:cNvPr>
            <p:cNvSpPr txBox="1"/>
            <p:nvPr/>
          </p:nvSpPr>
          <p:spPr>
            <a:xfrm>
              <a:off x="1112363" y="4920793"/>
              <a:ext cx="1071665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March 2020                                          March 2021                                           March 2022                                          March 2023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1B88B65-5010-55C7-0E3F-849CD127AA32}"/>
                </a:ext>
              </a:extLst>
            </p:cNvPr>
            <p:cNvSpPr txBox="1"/>
            <p:nvPr/>
          </p:nvSpPr>
          <p:spPr>
            <a:xfrm rot="16200000">
              <a:off x="-1658037" y="2309091"/>
              <a:ext cx="392620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SARS-CoV-2 spike antibody titter         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335E43D-5F17-97A2-E1CB-49FFE7201ED6}"/>
                </a:ext>
              </a:extLst>
            </p:cNvPr>
            <p:cNvSpPr txBox="1"/>
            <p:nvPr/>
          </p:nvSpPr>
          <p:spPr>
            <a:xfrm>
              <a:off x="1112363" y="4166647"/>
              <a:ext cx="1136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threshold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2252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F3404AEF-8FA2-D346-8931-BBB6B9A6EADA}"/>
              </a:ext>
            </a:extLst>
          </p:cNvPr>
          <p:cNvGrpSpPr/>
          <p:nvPr/>
        </p:nvGrpSpPr>
        <p:grpSpPr>
          <a:xfrm>
            <a:off x="595083" y="291825"/>
            <a:ext cx="8491861" cy="2588523"/>
            <a:chOff x="1021803" y="312145"/>
            <a:chExt cx="8491861" cy="258852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DB5BFD4-CD4C-4466-8152-2EBEC31563DD}"/>
                </a:ext>
              </a:extLst>
            </p:cNvPr>
            <p:cNvSpPr/>
            <p:nvPr/>
          </p:nvSpPr>
          <p:spPr>
            <a:xfrm>
              <a:off x="16679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FEFA5B3-7A9D-2B15-3694-2B2B46DDEC2A}"/>
                </a:ext>
              </a:extLst>
            </p:cNvPr>
            <p:cNvSpPr/>
            <p:nvPr/>
          </p:nvSpPr>
          <p:spPr>
            <a:xfrm>
              <a:off x="35856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6EB0E08-3442-CF11-0870-72663374186B}"/>
                </a:ext>
              </a:extLst>
            </p:cNvPr>
            <p:cNvSpPr/>
            <p:nvPr/>
          </p:nvSpPr>
          <p:spPr>
            <a:xfrm>
              <a:off x="6451600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6C41B9-3D5A-A90C-1C8A-1DF1E02A7CC5}"/>
                </a:ext>
              </a:extLst>
            </p:cNvPr>
            <p:cNvCxnSpPr/>
            <p:nvPr/>
          </p:nvCxnSpPr>
          <p:spPr>
            <a:xfrm>
              <a:off x="2620433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7E7C06-7A5F-58FB-73EA-71760528CE04}"/>
                </a:ext>
              </a:extLst>
            </p:cNvPr>
            <p:cNvCxnSpPr/>
            <p:nvPr/>
          </p:nvCxnSpPr>
          <p:spPr>
            <a:xfrm>
              <a:off x="5499100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2535A0-E881-DFE2-1840-174140EF9C1A}"/>
                </a:ext>
              </a:extLst>
            </p:cNvPr>
            <p:cNvCxnSpPr/>
            <p:nvPr/>
          </p:nvCxnSpPr>
          <p:spPr>
            <a:xfrm>
              <a:off x="2620433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8987EBC-E512-A166-9134-E48C2E0891B7}"/>
                </a:ext>
              </a:extLst>
            </p:cNvPr>
            <p:cNvCxnSpPr/>
            <p:nvPr/>
          </p:nvCxnSpPr>
          <p:spPr>
            <a:xfrm>
              <a:off x="5499100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3C984E-E8B0-5293-3AB9-0A6D25BC03CA}"/>
                </a:ext>
              </a:extLst>
            </p:cNvPr>
            <p:cNvSpPr txBox="1"/>
            <p:nvPr/>
          </p:nvSpPr>
          <p:spPr>
            <a:xfrm>
              <a:off x="1876067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1</a:t>
              </a:r>
              <a:endParaRPr lang="en-US" sz="28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8F6B09F-E088-853C-682D-76A6756826AB}"/>
                </a:ext>
              </a:extLst>
            </p:cNvPr>
            <p:cNvSpPr txBox="1"/>
            <p:nvPr/>
          </p:nvSpPr>
          <p:spPr>
            <a:xfrm>
              <a:off x="3839193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2</a:t>
              </a:r>
              <a:endParaRPr lang="en-US" sz="2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AAC927-A5A3-E46E-924E-137CA30A9A23}"/>
                </a:ext>
              </a:extLst>
            </p:cNvPr>
            <p:cNvSpPr txBox="1"/>
            <p:nvPr/>
          </p:nvSpPr>
          <p:spPr>
            <a:xfrm>
              <a:off x="6717397" y="1715357"/>
              <a:ext cx="5148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X</a:t>
              </a:r>
              <a:r>
                <a:rPr lang="en-US" sz="2800" baseline="-25000" dirty="0" err="1"/>
                <a:t>n</a:t>
              </a:r>
              <a:endParaRPr lang="en-US" sz="28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60394F-93DC-402D-F7C5-C71C5D301645}"/>
                </a:ext>
              </a:extLst>
            </p:cNvPr>
            <p:cNvSpPr txBox="1"/>
            <p:nvPr/>
          </p:nvSpPr>
          <p:spPr>
            <a:xfrm>
              <a:off x="4846320" y="1803400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…..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323816-59B4-2BD0-B437-39FEB529D2E3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37833" y="2446867"/>
              <a:ext cx="3630" cy="40809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4E40174-7EF3-C648-6A1B-CCFF35D5E40E}"/>
                </a:ext>
              </a:extLst>
            </p:cNvPr>
            <p:cNvCxnSpPr/>
            <p:nvPr/>
          </p:nvCxnSpPr>
          <p:spPr>
            <a:xfrm>
              <a:off x="4190153" y="2446866"/>
              <a:ext cx="3630" cy="4080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5FE9CF4-59BD-7997-C1C1-FE46E3F736BD}"/>
                </a:ext>
              </a:extLst>
            </p:cNvPr>
            <p:cNvCxnSpPr/>
            <p:nvPr/>
          </p:nvCxnSpPr>
          <p:spPr>
            <a:xfrm>
              <a:off x="7075593" y="2446866"/>
              <a:ext cx="3630" cy="40809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FF535F-2429-5F36-C109-C9801A50FF11}"/>
                </a:ext>
              </a:extLst>
            </p:cNvPr>
            <p:cNvSpPr txBox="1"/>
            <p:nvPr/>
          </p:nvSpPr>
          <p:spPr>
            <a:xfrm>
              <a:off x="2235288" y="2516200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1</a:t>
              </a:r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434F50-4470-24DF-9CAE-E95410DF6C37}"/>
                </a:ext>
              </a:extLst>
            </p:cNvPr>
            <p:cNvSpPr txBox="1"/>
            <p:nvPr/>
          </p:nvSpPr>
          <p:spPr>
            <a:xfrm>
              <a:off x="4259900" y="2466246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2</a:t>
              </a:r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021356-EFF7-1009-5A19-452B24C688A8}"/>
                </a:ext>
              </a:extLst>
            </p:cNvPr>
            <p:cNvSpPr txBox="1"/>
            <p:nvPr/>
          </p:nvSpPr>
          <p:spPr>
            <a:xfrm>
              <a:off x="6672668" y="2531336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8D81277F-F4E7-B534-A7EF-C37CA766DCEB}"/>
                </a:ext>
              </a:extLst>
            </p:cNvPr>
            <p:cNvSpPr/>
            <p:nvPr/>
          </p:nvSpPr>
          <p:spPr>
            <a:xfrm rot="10800000">
              <a:off x="1284172" y="671502"/>
              <a:ext cx="803126" cy="1227006"/>
            </a:xfrm>
            <a:prstGeom prst="arc">
              <a:avLst>
                <a:gd name="adj1" fmla="val 16200000"/>
                <a:gd name="adj2" fmla="val 21330930"/>
              </a:avLst>
            </a:prstGeom>
            <a:ln>
              <a:solidFill>
                <a:srgbClr val="0432FF"/>
              </a:solidFill>
              <a:headEnd type="stealth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F2FE18-993C-ABED-807D-93F410F024AD}"/>
                </a:ext>
              </a:extLst>
            </p:cNvPr>
            <p:cNvSpPr txBox="1"/>
            <p:nvPr/>
          </p:nvSpPr>
          <p:spPr>
            <a:xfrm>
              <a:off x="1021803" y="683548"/>
              <a:ext cx="10740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432FF"/>
                  </a:solidFill>
                </a:rPr>
                <a:t>extrinsic </a:t>
              </a:r>
              <a:br>
                <a:rPr lang="en-US" dirty="0">
                  <a:solidFill>
                    <a:srgbClr val="0432FF"/>
                  </a:solidFill>
                </a:rPr>
              </a:br>
              <a:r>
                <a:rPr lang="en-US" dirty="0">
                  <a:solidFill>
                    <a:srgbClr val="0432FF"/>
                  </a:solidFill>
                </a:rPr>
                <a:t>model</a:t>
              </a:r>
            </a:p>
            <a:p>
              <a:pPr algn="ctr"/>
              <a:r>
                <a:rPr lang="en-US" dirty="0">
                  <a:solidFill>
                    <a:srgbClr val="0432FF"/>
                  </a:solidFill>
                </a:rPr>
                <a:t>a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92D487C-4723-5411-5F94-75DEABF3F3BB}"/>
                </a:ext>
              </a:extLst>
            </p:cNvPr>
            <p:cNvSpPr txBox="1"/>
            <p:nvPr/>
          </p:nvSpPr>
          <p:spPr>
            <a:xfrm>
              <a:off x="2408669" y="312145"/>
              <a:ext cx="3822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Influx after immunization or infection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1F36B5C-2CF8-335C-EF96-BA18DB7C9307}"/>
                </a:ext>
              </a:extLst>
            </p:cNvPr>
            <p:cNvCxnSpPr/>
            <p:nvPr/>
          </p:nvCxnSpPr>
          <p:spPr>
            <a:xfrm>
              <a:off x="2137833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765718-D709-9AB0-14EA-CE26AFC0B9A3}"/>
                </a:ext>
              </a:extLst>
            </p:cNvPr>
            <p:cNvCxnSpPr/>
            <p:nvPr/>
          </p:nvCxnSpPr>
          <p:spPr>
            <a:xfrm>
              <a:off x="4186523" y="1079595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C2CD1D2-E11F-2B86-71FA-8A1F8F688C1A}"/>
                </a:ext>
              </a:extLst>
            </p:cNvPr>
            <p:cNvCxnSpPr/>
            <p:nvPr/>
          </p:nvCxnSpPr>
          <p:spPr>
            <a:xfrm>
              <a:off x="6971209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30465A4-9A15-BA28-B94C-3D69CCFB89CE}"/>
                </a:ext>
              </a:extLst>
            </p:cNvPr>
            <p:cNvSpPr txBox="1"/>
            <p:nvPr/>
          </p:nvSpPr>
          <p:spPr>
            <a:xfrm>
              <a:off x="3408758" y="671503"/>
              <a:ext cx="17203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intrinsic model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2311B0-661D-81CA-CA56-5B9348DE2CFC}"/>
                </a:ext>
              </a:extLst>
            </p:cNvPr>
            <p:cNvSpPr txBox="1"/>
            <p:nvPr/>
          </p:nvSpPr>
          <p:spPr>
            <a:xfrm>
              <a:off x="2137833" y="1040835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7C1595-C11E-9F73-3F22-4E75922F98D3}"/>
                </a:ext>
              </a:extLst>
            </p:cNvPr>
            <p:cNvSpPr txBox="1"/>
            <p:nvPr/>
          </p:nvSpPr>
          <p:spPr>
            <a:xfrm>
              <a:off x="4220706" y="1060214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2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F4C33E-9383-511D-9957-FEB58CF06543}"/>
                </a:ext>
              </a:extLst>
            </p:cNvPr>
            <p:cNvSpPr txBox="1"/>
            <p:nvPr/>
          </p:nvSpPr>
          <p:spPr>
            <a:xfrm>
              <a:off x="6988185" y="100603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n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7E9B68-2D0F-C365-423E-907428225A39}"/>
                </a:ext>
              </a:extLst>
            </p:cNvPr>
            <p:cNvSpPr txBox="1"/>
            <p:nvPr/>
          </p:nvSpPr>
          <p:spPr>
            <a:xfrm>
              <a:off x="7589163" y="462633"/>
              <a:ext cx="1924501" cy="230832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Homeostasis: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i</a:t>
              </a:r>
              <a:r>
                <a:rPr lang="en-US" dirty="0"/>
                <a:t> = h</a:t>
              </a:r>
              <a:r>
                <a:rPr lang="en-US" baseline="-25000" dirty="0"/>
                <a:t>i</a:t>
              </a:r>
              <a:r>
                <a:rPr lang="en-US" dirty="0"/>
                <a:t>(x</a:t>
              </a:r>
              <a:r>
                <a:rPr lang="en-US" baseline="-25000" dirty="0"/>
                <a:t>1, … </a:t>
              </a:r>
              <a:r>
                <a:rPr lang="en-US" dirty="0" err="1"/>
                <a:t>x</a:t>
              </a:r>
              <a:r>
                <a:rPr lang="en-US" baseline="-25000" dirty="0" err="1"/>
                <a:t>n</a:t>
              </a:r>
              <a:r>
                <a:rPr lang="en-US" dirty="0"/>
                <a:t>)</a:t>
              </a:r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Antibody</a:t>
              </a:r>
            </a:p>
            <a:p>
              <a:pPr algn="ctr"/>
              <a:r>
                <a:rPr lang="en-US" dirty="0" err="1"/>
                <a:t>dA</a:t>
              </a:r>
              <a:r>
                <a:rPr lang="en-US" dirty="0"/>
                <a:t>/dt = p </a:t>
              </a:r>
              <a:r>
                <a:rPr lang="el-GR" dirty="0"/>
                <a:t>Σ</a:t>
              </a:r>
              <a:r>
                <a:rPr lang="en-US" dirty="0"/>
                <a:t>x</a:t>
              </a:r>
              <a:r>
                <a:rPr lang="en-US" baseline="-25000" dirty="0"/>
                <a:t>i</a:t>
              </a:r>
              <a:r>
                <a:rPr lang="en-US" dirty="0"/>
                <a:t> – </a:t>
              </a:r>
              <a:r>
                <a:rPr lang="en-US" dirty="0" err="1"/>
                <a:t>d</a:t>
              </a:r>
              <a:r>
                <a:rPr lang="en-US" baseline="-25000" dirty="0" err="1"/>
                <a:t>A</a:t>
              </a:r>
              <a:r>
                <a:rPr lang="en-US" dirty="0" err="1"/>
                <a:t>A</a:t>
              </a:r>
              <a:endParaRPr lang="en-US" dirty="0"/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Death rates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1</a:t>
              </a:r>
              <a:r>
                <a:rPr lang="en-US" dirty="0"/>
                <a:t>&gt;d</a:t>
              </a:r>
              <a:r>
                <a:rPr lang="en-US" baseline="-25000" dirty="0"/>
                <a:t>2</a:t>
              </a:r>
              <a:r>
                <a:rPr lang="en-US" dirty="0"/>
                <a:t>&gt;…&gt;</a:t>
              </a:r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99D2B3D-8D33-FB1F-450C-4C39831B7FAA}"/>
                </a:ext>
              </a:extLst>
            </p:cNvPr>
            <p:cNvSpPr txBox="1"/>
            <p:nvPr/>
          </p:nvSpPr>
          <p:spPr>
            <a:xfrm>
              <a:off x="2947970" y="1472729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6FCC22-ADB9-5C78-7B03-08F97D4D5817}"/>
                </a:ext>
              </a:extLst>
            </p:cNvPr>
            <p:cNvSpPr txBox="1"/>
            <p:nvPr/>
          </p:nvSpPr>
          <p:spPr>
            <a:xfrm>
              <a:off x="2927366" y="198806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6261CB1-BAAF-240E-62BC-13B0C7A8EFB6}"/>
                </a:ext>
              </a:extLst>
            </p:cNvPr>
            <p:cNvSpPr txBox="1"/>
            <p:nvPr/>
          </p:nvSpPr>
          <p:spPr>
            <a:xfrm>
              <a:off x="5894595" y="1485431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3DFD4EB-C62A-7B07-3514-20FDC04DF0E0}"/>
                </a:ext>
              </a:extLst>
            </p:cNvPr>
            <p:cNvSpPr txBox="1"/>
            <p:nvPr/>
          </p:nvSpPr>
          <p:spPr>
            <a:xfrm>
              <a:off x="5884151" y="2000768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885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3A787F5-E356-CFCE-3E62-907444E610DD}"/>
              </a:ext>
            </a:extLst>
          </p:cNvPr>
          <p:cNvSpPr txBox="1"/>
          <p:nvPr/>
        </p:nvSpPr>
        <p:spPr>
          <a:xfrm>
            <a:off x="632345" y="4376945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5F9B5E-4ED8-3F4B-D781-5A2AD4A5D1D1}"/>
              </a:ext>
            </a:extLst>
          </p:cNvPr>
          <p:cNvGrpSpPr/>
          <p:nvPr/>
        </p:nvGrpSpPr>
        <p:grpSpPr>
          <a:xfrm>
            <a:off x="266539" y="0"/>
            <a:ext cx="11672521" cy="4376945"/>
            <a:chOff x="266539" y="0"/>
            <a:chExt cx="11672521" cy="4376945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4C87AD7-A457-180E-9CFC-2FB5803383C1}"/>
                </a:ext>
              </a:extLst>
            </p:cNvPr>
            <p:cNvSpPr txBox="1"/>
            <p:nvPr/>
          </p:nvSpPr>
          <p:spPr>
            <a:xfrm>
              <a:off x="9761284" y="2794186"/>
              <a:ext cx="21777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death follows Power Law </a:t>
              </a:r>
              <a:br>
                <a:rPr lang="en-US" sz="1400" dirty="0"/>
              </a:br>
              <a:r>
                <a:rPr lang="en-US" sz="1400" dirty="0"/>
                <a:t>m</a:t>
              </a:r>
              <a:r>
                <a:rPr lang="en-US" sz="1400" baseline="-25000" dirty="0"/>
                <a:t>b</a:t>
              </a:r>
              <a:r>
                <a:rPr lang="en-US" sz="1400" dirty="0"/>
                <a:t> (boost)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3FE0473-9AB0-BF8A-897D-E09A78CCC442}"/>
                </a:ext>
              </a:extLst>
            </p:cNvPr>
            <p:cNvGrpSpPr/>
            <p:nvPr/>
          </p:nvGrpSpPr>
          <p:grpSpPr>
            <a:xfrm>
              <a:off x="266539" y="0"/>
              <a:ext cx="9762394" cy="4376945"/>
              <a:chOff x="169720" y="2124740"/>
              <a:chExt cx="9762394" cy="4376945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77A0027-7835-3BDD-1216-4AB86754D62D}"/>
                  </a:ext>
                </a:extLst>
              </p:cNvPr>
              <p:cNvGrpSpPr/>
              <p:nvPr/>
            </p:nvGrpSpPr>
            <p:grpSpPr>
              <a:xfrm>
                <a:off x="535526" y="2124740"/>
                <a:ext cx="7062700" cy="3845117"/>
                <a:chOff x="6044310" y="-614837"/>
                <a:chExt cx="7062700" cy="3845117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D537C55-40BA-9618-3AC9-3D6117F69A70}"/>
                    </a:ext>
                  </a:extLst>
                </p:cNvPr>
                <p:cNvSpPr txBox="1"/>
                <p:nvPr/>
              </p:nvSpPr>
              <p:spPr>
                <a:xfrm>
                  <a:off x="6044310" y="1332964"/>
                  <a:ext cx="964593" cy="64633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Naïve</a:t>
                  </a:r>
                </a:p>
                <a:p>
                  <a:pPr algn="ctr"/>
                  <a:r>
                    <a:rPr lang="en-US" dirty="0"/>
                    <a:t>B cell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6CD4A79-33B9-118E-B976-A4327F5190F6}"/>
                    </a:ext>
                  </a:extLst>
                </p:cNvPr>
                <p:cNvSpPr txBox="1"/>
                <p:nvPr/>
              </p:nvSpPr>
              <p:spPr>
                <a:xfrm>
                  <a:off x="7674635" y="1332963"/>
                  <a:ext cx="964593" cy="64633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 err="1"/>
                    <a:t>Prolif</a:t>
                  </a:r>
                  <a:r>
                    <a:rPr lang="en-US" dirty="0"/>
                    <a:t>.  GC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C7BC40E-4E88-01BF-4827-328574D188AA}"/>
                    </a:ext>
                  </a:extLst>
                </p:cNvPr>
                <p:cNvSpPr txBox="1"/>
                <p:nvPr/>
              </p:nvSpPr>
              <p:spPr>
                <a:xfrm>
                  <a:off x="9575660" y="364916"/>
                  <a:ext cx="964593" cy="1200329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Long-lived PC from 1</a:t>
                  </a:r>
                  <a:r>
                    <a:rPr lang="en-US" dirty="0">
                      <a:solidFill>
                        <a:schemeClr val="tx1"/>
                      </a:solidFill>
                    </a:rPr>
                    <a:t>°</a:t>
                  </a:r>
                  <a:endParaRPr 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AEE4FBF-AB25-E4B0-FF37-F513661B6CBB}"/>
                    </a:ext>
                  </a:extLst>
                </p:cNvPr>
                <p:cNvSpPr txBox="1"/>
                <p:nvPr/>
              </p:nvSpPr>
              <p:spPr>
                <a:xfrm>
                  <a:off x="9501903" y="1979294"/>
                  <a:ext cx="1051857" cy="92333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Long lived MBC</a:t>
                  </a:r>
                </a:p>
              </p:txBody>
            </p: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530C87BD-8F12-C45E-5E89-B0F903F56410}"/>
                    </a:ext>
                  </a:extLst>
                </p:cNvPr>
                <p:cNvCxnSpPr>
                  <a:stCxn id="22" idx="3"/>
                  <a:endCxn id="23" idx="1"/>
                </p:cNvCxnSpPr>
                <p:nvPr/>
              </p:nvCxnSpPr>
              <p:spPr>
                <a:xfrm flipV="1">
                  <a:off x="7008903" y="1656129"/>
                  <a:ext cx="665732" cy="1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4B46292E-B8CD-1828-7F80-A6028F869D3D}"/>
                    </a:ext>
                  </a:extLst>
                </p:cNvPr>
                <p:cNvCxnSpPr>
                  <a:cxnSpLocks/>
                  <a:endCxn id="24" idx="1"/>
                </p:cNvCxnSpPr>
                <p:nvPr/>
              </p:nvCxnSpPr>
              <p:spPr>
                <a:xfrm flipV="1">
                  <a:off x="8639228" y="965081"/>
                  <a:ext cx="936432" cy="365597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75849639-B69C-19DC-45C9-5BD498B213B8}"/>
                    </a:ext>
                  </a:extLst>
                </p:cNvPr>
                <p:cNvCxnSpPr>
                  <a:cxnSpLocks/>
                  <a:endCxn id="25" idx="1"/>
                </p:cNvCxnSpPr>
                <p:nvPr/>
              </p:nvCxnSpPr>
              <p:spPr>
                <a:xfrm>
                  <a:off x="8639228" y="1979294"/>
                  <a:ext cx="862675" cy="461665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B0998AEB-F4FA-647A-F575-3AFDD0F0472C}"/>
                    </a:ext>
                  </a:extLst>
                </p:cNvPr>
                <p:cNvSpPr/>
                <p:nvPr/>
              </p:nvSpPr>
              <p:spPr>
                <a:xfrm>
                  <a:off x="7885721" y="777488"/>
                  <a:ext cx="586458" cy="541551"/>
                </a:xfrm>
                <a:custGeom>
                  <a:avLst/>
                  <a:gdLst>
                    <a:gd name="connsiteX0" fmla="*/ 335294 w 586458"/>
                    <a:gd name="connsiteY0" fmla="*/ 541551 h 541551"/>
                    <a:gd name="connsiteX1" fmla="*/ 586432 w 586458"/>
                    <a:gd name="connsiteY1" fmla="*/ 303292 h 541551"/>
                    <a:gd name="connsiteX2" fmla="*/ 322415 w 586458"/>
                    <a:gd name="connsiteY2" fmla="*/ 639 h 541551"/>
                    <a:gd name="connsiteX3" fmla="*/ 6883 w 586458"/>
                    <a:gd name="connsiteY3" fmla="*/ 232458 h 541551"/>
                    <a:gd name="connsiteX4" fmla="*/ 135672 w 586458"/>
                    <a:gd name="connsiteY4" fmla="*/ 535112 h 5415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6458" h="541551">
                      <a:moveTo>
                        <a:pt x="335294" y="541551"/>
                      </a:moveTo>
                      <a:cubicBezTo>
                        <a:pt x="461936" y="467497"/>
                        <a:pt x="588578" y="393444"/>
                        <a:pt x="586432" y="303292"/>
                      </a:cubicBezTo>
                      <a:cubicBezTo>
                        <a:pt x="584286" y="213140"/>
                        <a:pt x="419006" y="12445"/>
                        <a:pt x="322415" y="639"/>
                      </a:cubicBezTo>
                      <a:cubicBezTo>
                        <a:pt x="225824" y="-11167"/>
                        <a:pt x="38007" y="143379"/>
                        <a:pt x="6883" y="232458"/>
                      </a:cubicBezTo>
                      <a:cubicBezTo>
                        <a:pt x="-24241" y="321537"/>
                        <a:pt x="55715" y="428324"/>
                        <a:pt x="135672" y="535112"/>
                      </a:cubicBezTo>
                    </a:path>
                  </a:pathLst>
                </a:custGeom>
                <a:noFill/>
                <a:ln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08EB28DC-7618-689A-3AE6-D1CA5CD1A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0526" y="893898"/>
                  <a:ext cx="377939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805433A1-7736-DD2D-69C1-D13BD2575B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9867690" y="63963"/>
                  <a:ext cx="4316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ECD08FF-9B73-7AFE-1530-53791369D362}"/>
                    </a:ext>
                  </a:extLst>
                </p:cNvPr>
                <p:cNvSpPr txBox="1"/>
                <p:nvPr/>
              </p:nvSpPr>
              <p:spPr>
                <a:xfrm>
                  <a:off x="10085966" y="-614837"/>
                  <a:ext cx="1161240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Secreted antibody</a:t>
                  </a:r>
                </a:p>
                <a:p>
                  <a:r>
                    <a:rPr lang="en-US" b="1" dirty="0"/>
                    <a:t>(T</a:t>
                  </a:r>
                  <a:r>
                    <a:rPr lang="en-US" b="1" baseline="-25000" dirty="0"/>
                    <a:t>1/2</a:t>
                  </a:r>
                  <a:r>
                    <a:rPr lang="en-US" b="1" dirty="0"/>
                    <a:t>~21d)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DC297014-021B-9139-0527-C121D3EDA59E}"/>
                    </a:ext>
                  </a:extLst>
                </p:cNvPr>
                <p:cNvSpPr txBox="1"/>
                <p:nvPr/>
              </p:nvSpPr>
              <p:spPr>
                <a:xfrm>
                  <a:off x="10929234" y="646130"/>
                  <a:ext cx="217777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death follows Power Law </a:t>
                  </a:r>
                  <a:br>
                    <a:rPr lang="en-US" sz="1400" dirty="0"/>
                  </a:br>
                  <a:r>
                    <a:rPr lang="en-US" sz="1400" dirty="0" err="1"/>
                    <a:t>m</a:t>
                  </a:r>
                  <a:r>
                    <a:rPr lang="en-US" sz="1400" baseline="-25000" dirty="0" err="1"/>
                    <a:t>p</a:t>
                  </a:r>
                  <a:r>
                    <a:rPr lang="en-US" sz="1400" dirty="0"/>
                    <a:t> (prime)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B3380312-C704-B15E-0829-1A24C1AD04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9955543" y="3061718"/>
                  <a:ext cx="255908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5514CCA-743F-FC7E-C2F9-690E989EF4BB}"/>
                    </a:ext>
                  </a:extLst>
                </p:cNvPr>
                <p:cNvSpPr txBox="1"/>
                <p:nvPr/>
              </p:nvSpPr>
              <p:spPr>
                <a:xfrm>
                  <a:off x="10127592" y="2922503"/>
                  <a:ext cx="63190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death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878A1A-532C-1783-5A1B-39FCC1A4D753}"/>
                  </a:ext>
                </a:extLst>
              </p:cNvPr>
              <p:cNvSpPr txBox="1"/>
              <p:nvPr/>
            </p:nvSpPr>
            <p:spPr>
              <a:xfrm>
                <a:off x="169720" y="3443084"/>
                <a:ext cx="3658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A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EA38AD9-517B-2436-B9E1-25CD50F2C1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5744" y="5180536"/>
                <a:ext cx="1000256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1F1BF4C-E140-B6AA-A0BD-887792254599}"/>
                  </a:ext>
                </a:extLst>
              </p:cNvPr>
              <p:cNvSpPr txBox="1"/>
              <p:nvPr/>
            </p:nvSpPr>
            <p:spPr>
              <a:xfrm>
                <a:off x="6134950" y="4860297"/>
                <a:ext cx="964593" cy="64633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Prolif</a:t>
                </a:r>
                <a:r>
                  <a:rPr lang="en-US" dirty="0"/>
                  <a:t>.  GC</a:t>
                </a:r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2B8CFB45-DD6E-8BC4-D908-6810253DED2F}"/>
                  </a:ext>
                </a:extLst>
              </p:cNvPr>
              <p:cNvSpPr/>
              <p:nvPr/>
            </p:nvSpPr>
            <p:spPr>
              <a:xfrm>
                <a:off x="6346036" y="4304822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DF1DA59F-E22C-A77B-894F-C99A4B67D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07800" y="5180536"/>
                <a:ext cx="1000256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AA74DBA-0FA7-3E0F-82A1-D08C52786357}"/>
                  </a:ext>
                </a:extLst>
              </p:cNvPr>
              <p:cNvSpPr txBox="1"/>
              <p:nvPr/>
            </p:nvSpPr>
            <p:spPr>
              <a:xfrm>
                <a:off x="8260568" y="4581411"/>
                <a:ext cx="964593" cy="120032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Long-lived PC from 2</a:t>
                </a:r>
                <a:r>
                  <a:rPr lang="en-US" dirty="0">
                    <a:solidFill>
                      <a:schemeClr val="tx1"/>
                    </a:solidFill>
                  </a:rPr>
                  <a:t>°</a:t>
                </a: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7FDFE455-808C-0313-816D-67A1BCDA1F2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8552598" y="4280458"/>
                <a:ext cx="4316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071BB65-3FEE-84CC-DE89-43A2B39D848A}"/>
                  </a:ext>
                </a:extLst>
              </p:cNvPr>
              <p:cNvSpPr txBox="1"/>
              <p:nvPr/>
            </p:nvSpPr>
            <p:spPr>
              <a:xfrm>
                <a:off x="8770874" y="3601658"/>
                <a:ext cx="11612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Secreted antibody</a:t>
                </a:r>
              </a:p>
              <a:p>
                <a:r>
                  <a:rPr lang="en-US" b="1" dirty="0"/>
                  <a:t>(T</a:t>
                </a:r>
                <a:r>
                  <a:rPr lang="en-US" b="1" baseline="-25000" dirty="0"/>
                  <a:t>1/2</a:t>
                </a:r>
                <a:r>
                  <a:rPr lang="en-US" b="1" dirty="0"/>
                  <a:t>~21d)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C807CE8A-692C-058C-6588-558B69255D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6526" y="5188165"/>
                <a:ext cx="377939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A595EE3-F627-13E2-38BD-58D33BACC908}"/>
                  </a:ext>
                </a:extLst>
              </p:cNvPr>
              <p:cNvCxnSpPr/>
              <p:nvPr/>
            </p:nvCxnSpPr>
            <p:spPr>
              <a:xfrm flipV="1">
                <a:off x="1742739" y="4523639"/>
                <a:ext cx="0" cy="8269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FA5CDEC5-802D-C38C-6F88-5A1BDCB335CA}"/>
                  </a:ext>
                </a:extLst>
              </p:cNvPr>
              <p:cNvCxnSpPr/>
              <p:nvPr/>
            </p:nvCxnSpPr>
            <p:spPr>
              <a:xfrm flipV="1">
                <a:off x="5738422" y="5330461"/>
                <a:ext cx="0" cy="8269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426F77D-DDA3-4DB7-FC05-931A04C71E7C}"/>
                  </a:ext>
                </a:extLst>
              </p:cNvPr>
              <p:cNvSpPr txBox="1"/>
              <p:nvPr/>
            </p:nvSpPr>
            <p:spPr>
              <a:xfrm>
                <a:off x="1571780" y="5421849"/>
                <a:ext cx="14441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0432FF"/>
                    </a:solidFill>
                  </a:rPr>
                  <a:t>1° infection 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AAB7AE-4A7E-015A-21B6-051F7972F3B3}"/>
                  </a:ext>
                </a:extLst>
              </p:cNvPr>
              <p:cNvSpPr txBox="1"/>
              <p:nvPr/>
            </p:nvSpPr>
            <p:spPr>
              <a:xfrm>
                <a:off x="5554329" y="6132353"/>
                <a:ext cx="13781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0000"/>
                    </a:solidFill>
                  </a:rPr>
                  <a:t>2° infection 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41769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119311B-C663-75DA-CDC9-476C2DE94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4" y="-51371"/>
            <a:ext cx="8123203" cy="30933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11F18BB4-5A47-A108-4B42-512E3215DADF}"/>
              </a:ext>
            </a:extLst>
          </p:cNvPr>
          <p:cNvGrpSpPr/>
          <p:nvPr/>
        </p:nvGrpSpPr>
        <p:grpSpPr>
          <a:xfrm>
            <a:off x="121057" y="2728015"/>
            <a:ext cx="7410711" cy="2806678"/>
            <a:chOff x="121057" y="2686919"/>
            <a:chExt cx="7410711" cy="2806678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CF61C1-EA04-6103-EE91-4934F4ADE8A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02769" y="2876744"/>
              <a:ext cx="7128999" cy="2616853"/>
              <a:chOff x="76200" y="3031511"/>
              <a:chExt cx="8229599" cy="302085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373598F-0879-F5B5-CA35-95FF15177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00" y="3031511"/>
                <a:ext cx="7772400" cy="3020851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B21E2A6-5165-976D-2E5B-7CBCBA86BB42}"/>
                  </a:ext>
                </a:extLst>
              </p:cNvPr>
              <p:cNvSpPr txBox="1"/>
              <p:nvPr/>
            </p:nvSpPr>
            <p:spPr>
              <a:xfrm>
                <a:off x="6187114" y="4612131"/>
                <a:ext cx="21186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FF0000"/>
                    </a:solidFill>
                  </a:rPr>
                  <a:t>Actual m = m</a:t>
                </a:r>
                <a:r>
                  <a:rPr lang="en-US" sz="1400" b="1" baseline="-25000" dirty="0">
                    <a:solidFill>
                      <a:srgbClr val="FF0000"/>
                    </a:solidFill>
                  </a:rPr>
                  <a:t>b</a:t>
                </a:r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97345A-1511-16E7-4E39-FF83895AB242}"/>
                  </a:ext>
                </a:extLst>
              </p:cNvPr>
              <p:cNvSpPr txBox="1"/>
              <p:nvPr/>
            </p:nvSpPr>
            <p:spPr>
              <a:xfrm>
                <a:off x="5925856" y="4080271"/>
                <a:ext cx="21186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Observed m &lt; m</a:t>
                </a:r>
                <a:r>
                  <a:rPr lang="en-US" sz="1400" b="1" baseline="-25000" dirty="0"/>
                  <a:t>b</a:t>
                </a:r>
                <a:endParaRPr lang="en-US" sz="1400" b="1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44A59B9-03F1-C345-4389-FFFADA1C57E1}"/>
                  </a:ext>
                </a:extLst>
              </p:cNvPr>
              <p:cNvSpPr txBox="1"/>
              <p:nvPr/>
            </p:nvSpPr>
            <p:spPr>
              <a:xfrm>
                <a:off x="2540401" y="5195079"/>
                <a:ext cx="21186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0432FF"/>
                    </a:solidFill>
                  </a:rPr>
                  <a:t>Observed m = </a:t>
                </a:r>
                <a:r>
                  <a:rPr lang="en-US" sz="1400" b="1" dirty="0" err="1">
                    <a:solidFill>
                      <a:srgbClr val="0432FF"/>
                    </a:solidFill>
                  </a:rPr>
                  <a:t>m</a:t>
                </a:r>
                <a:r>
                  <a:rPr lang="en-US" sz="1400" b="1" baseline="-25000" dirty="0" err="1">
                    <a:solidFill>
                      <a:srgbClr val="0432FF"/>
                    </a:solidFill>
                  </a:rPr>
                  <a:t>p</a:t>
                </a:r>
                <a:endParaRPr lang="en-US" sz="1400" b="1" dirty="0">
                  <a:solidFill>
                    <a:srgbClr val="0432FF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433440-1C52-714E-4E15-74E7147EDE5C}"/>
                </a:ext>
              </a:extLst>
            </p:cNvPr>
            <p:cNvSpPr txBox="1"/>
            <p:nvPr/>
          </p:nvSpPr>
          <p:spPr>
            <a:xfrm>
              <a:off x="121057" y="2686919"/>
              <a:ext cx="28171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601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3081</TotalTime>
  <Words>270</Words>
  <Application>Microsoft Macintosh PowerPoint</Application>
  <PresentationFormat>Widescreen</PresentationFormat>
  <Paragraphs>104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Antia, Rustom</dc:creator>
  <cp:lastModifiedBy>Hirst, Cora</cp:lastModifiedBy>
  <cp:revision>33</cp:revision>
  <dcterms:created xsi:type="dcterms:W3CDTF">2024-09-25T19:44:21Z</dcterms:created>
  <dcterms:modified xsi:type="dcterms:W3CDTF">2026-07-02T13:03:14Z</dcterms:modified>
</cp:coreProperties>
</file>