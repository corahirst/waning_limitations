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41"/>
    <p:restoredTop sz="94589"/>
  </p:normalViewPr>
  <p:slideViewPr>
    <p:cSldViewPr snapToGrid="0">
      <p:cViewPr varScale="1">
        <p:scale>
          <a:sx n="112" d="100"/>
          <a:sy n="112" d="100"/>
        </p:scale>
        <p:origin x="208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C540A8-57A0-BE46-87FB-A609C29F4FB2}" type="datetimeFigureOut">
              <a:rPr lang="en-US" smtClean="0"/>
              <a:t>7/4/26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CC0D4E-1DBB-BB47-AD22-8421FECDC2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5175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CC0D4E-1DBB-BB47-AD22-8421FECDC29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8125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84EE0-7094-7B6D-6A88-CE252F71D4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CA6A50-9FF1-5C1A-408E-70014C5A69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F49DF9-40F8-7E9F-A1BC-BC0A33C3A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9B948-4ED5-6240-8238-DF3F13594E35}" type="datetimeFigureOut">
              <a:rPr lang="en-US" smtClean="0"/>
              <a:t>7/4/26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95E0CE-9CFB-B101-8D06-5564C59A3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C4970A-0891-92AF-D662-F2F0DDC7A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ABD19-7586-EC4B-B6B9-A02370BB75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399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DED20-113E-837E-940C-1950C238E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45D768-AEB0-BC17-B701-31913E9CD6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D16192-165D-2168-584D-C3AF5461CB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9B948-4ED5-6240-8238-DF3F13594E35}" type="datetimeFigureOut">
              <a:rPr lang="en-US" smtClean="0"/>
              <a:t>7/4/26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11AE0F-EDE4-E9C2-DA6F-758527EF9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B64D2B-CC93-7A4D-FCC4-198C547B7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ABD19-7586-EC4B-B6B9-A02370BB75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1767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787A9-675F-C75D-9278-7BC946739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E881A8-2B62-2E41-89F8-8AFB53A45D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3C2B11-E941-492C-8AE8-4135F4FC2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9B948-4ED5-6240-8238-DF3F13594E35}" type="datetimeFigureOut">
              <a:rPr lang="en-US" smtClean="0"/>
              <a:t>7/4/26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2C4980-ED08-96CB-9586-FE73864D5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B8CDDC-644F-A6F1-979D-9E4C493FC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ABD19-7586-EC4B-B6B9-A02370BB75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06466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86B77-DB51-FC1F-B53A-E94313BCA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633D6D-1341-3572-9BD8-EFAD177DBC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723C33-1A9D-4BE7-2C14-42E759EE3C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F4DF7F-37B4-A9BE-35D3-D7E92C11D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9B948-4ED5-6240-8238-DF3F13594E35}" type="datetimeFigureOut">
              <a:rPr lang="en-US" smtClean="0"/>
              <a:t>7/4/26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668369-FA2F-7E78-9279-3E05DB5CC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97D39C-32A5-B6B8-D757-A9861FDAC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ABD19-7586-EC4B-B6B9-A02370BB75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579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05D1B-FF73-4A0B-0D08-7CA284EEE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594B0E-D656-E8AF-66FD-A2257B400A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1CBC3A-D417-2DAA-C903-EA899C6E12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B4C872D-69F2-CF5E-D809-B1B6A940BD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419269-FD2C-11D9-A10F-155E882877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B1F1917-DE7E-B6B0-235E-91A2E96FF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9B948-4ED5-6240-8238-DF3F13594E35}" type="datetimeFigureOut">
              <a:rPr lang="en-US" smtClean="0"/>
              <a:t>7/4/26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50E159-990A-2512-3DAC-A13E0EB13C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562429-83DA-AE90-9FBC-0DB297F61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ABD19-7586-EC4B-B6B9-A02370BB75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54925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86D16-6870-3E31-F451-B20B1BDB5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09D0FB-1297-EE2C-DC64-80E111BCE0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9B948-4ED5-6240-8238-DF3F13594E35}" type="datetimeFigureOut">
              <a:rPr lang="en-US" smtClean="0"/>
              <a:t>7/4/26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89AF99-322B-FCF6-A5F1-1E7CC9C22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9AE429-8E0F-75A6-D018-33F7E75B3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ABD19-7586-EC4B-B6B9-A02370BB75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1384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090A430-E958-1C25-D0BC-93FBE428A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9B948-4ED5-6240-8238-DF3F13594E35}" type="datetimeFigureOut">
              <a:rPr lang="en-US" smtClean="0"/>
              <a:t>7/4/26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A24890-AC72-70C5-5468-A47D48831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53DF7F-547E-1142-91A5-2D6FD1F21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ABD19-7586-EC4B-B6B9-A02370BB75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8876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1B374-4D70-C181-D4DB-9217A91D96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72C813-65CA-CC95-2D3F-487A98E156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8D92AA-FDD3-D6AA-B447-7A1654D490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B08952-C8A8-963E-8DE6-FC2C9773F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9B948-4ED5-6240-8238-DF3F13594E35}" type="datetimeFigureOut">
              <a:rPr lang="en-US" smtClean="0"/>
              <a:t>7/4/26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9B10C0-DA1D-B4F9-F045-1833FC457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6380AA-F1E2-AA06-E435-6F66AE81B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ABD19-7586-EC4B-B6B9-A02370BB75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192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31030-B816-5641-BDD5-E7044793E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189CABB-BC52-576D-888C-601C5F84BB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563878-EFB5-2A54-F517-693D9CEDE6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6E8062-2073-C63C-70EA-C038BB965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9B948-4ED5-6240-8238-DF3F13594E35}" type="datetimeFigureOut">
              <a:rPr lang="en-US" smtClean="0"/>
              <a:t>7/4/26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04F4FD-E1DA-D76B-596B-1BC936DC9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4D97F7-F756-6A7F-5032-6962DCD1C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ABD19-7586-EC4B-B6B9-A02370BB75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6730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67CF1-9A18-C409-6F29-0586C4498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97AAE1-F7E5-63DD-CE7A-8222504806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F68BB9-A79A-EE7F-A4CB-C7893F887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9B948-4ED5-6240-8238-DF3F13594E35}" type="datetimeFigureOut">
              <a:rPr lang="en-US" smtClean="0"/>
              <a:t>7/4/26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442764-A594-D3A2-BAA3-856BA0964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818CB5-B318-1D69-F6A6-C1E2BF4CC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ABD19-7586-EC4B-B6B9-A02370BB75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0222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E3446EA-00A4-FD3D-6F1C-775D506364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789D68-4F7E-5497-0066-9291A05651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1AA28D-27E5-7BF9-38C9-6CFA00D88F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9B948-4ED5-6240-8238-DF3F13594E35}" type="datetimeFigureOut">
              <a:rPr lang="en-US" smtClean="0"/>
              <a:t>7/4/26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CEC25C-4EFD-254E-A3D5-E57E2F53D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80F108-3E99-4BE8-8F46-628DAE27F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ABD19-7586-EC4B-B6B9-A02370BB75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9456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7CC912D-642A-B1CD-185A-CB0DFCA6F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D0A502-BFB8-603C-C52C-3FEB1965D5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B0A1E8-A31B-B115-CA1A-81C55410E8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99B948-4ED5-6240-8238-DF3F13594E35}" type="datetimeFigureOut">
              <a:rPr lang="en-US" smtClean="0"/>
              <a:t>7/4/26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78F9AB-CD40-78E6-B818-E5DF96D0A8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0158A0-B2FD-6AC6-2D7F-8811F6CE15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5ABD19-7586-EC4B-B6B9-A02370BB75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6298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roup 58">
            <a:extLst>
              <a:ext uri="{FF2B5EF4-FFF2-40B4-BE49-F238E27FC236}">
                <a16:creationId xmlns:a16="http://schemas.microsoft.com/office/drawing/2014/main" id="{FD4DB05A-DCF8-F7BA-FB5E-3F8B429D3D47}"/>
              </a:ext>
            </a:extLst>
          </p:cNvPr>
          <p:cNvGrpSpPr/>
          <p:nvPr/>
        </p:nvGrpSpPr>
        <p:grpSpPr>
          <a:xfrm>
            <a:off x="766118" y="378840"/>
            <a:ext cx="4612460" cy="2537708"/>
            <a:chOff x="766118" y="378840"/>
            <a:chExt cx="4612460" cy="2537708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FB8882ED-CDCB-6E16-8DD9-69E675442158}"/>
                </a:ext>
              </a:extLst>
            </p:cNvPr>
            <p:cNvSpPr txBox="1"/>
            <p:nvPr/>
          </p:nvSpPr>
          <p:spPr>
            <a:xfrm>
              <a:off x="766118" y="1346888"/>
              <a:ext cx="964593" cy="646331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Naïve</a:t>
              </a:r>
            </a:p>
            <a:p>
              <a:pPr algn="ctr"/>
              <a:r>
                <a:rPr lang="en-US" dirty="0"/>
                <a:t>T cell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7984B20-849C-8340-3AAC-6ACE33D2BBCA}"/>
                </a:ext>
              </a:extLst>
            </p:cNvPr>
            <p:cNvSpPr txBox="1"/>
            <p:nvPr/>
          </p:nvSpPr>
          <p:spPr>
            <a:xfrm>
              <a:off x="2396443" y="1346887"/>
              <a:ext cx="964593" cy="646331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Prolif. / Effector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07388BC-B945-4A96-885B-F71846490CD8}"/>
                </a:ext>
              </a:extLst>
            </p:cNvPr>
            <p:cNvSpPr txBox="1"/>
            <p:nvPr/>
          </p:nvSpPr>
          <p:spPr>
            <a:xfrm>
              <a:off x="4297468" y="378840"/>
              <a:ext cx="964593" cy="92333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Short lived Effector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7111428-BB61-0AE9-5D55-3380AB757FEC}"/>
                </a:ext>
              </a:extLst>
            </p:cNvPr>
            <p:cNvSpPr txBox="1"/>
            <p:nvPr/>
          </p:nvSpPr>
          <p:spPr>
            <a:xfrm>
              <a:off x="4223711" y="1993218"/>
              <a:ext cx="1051857" cy="92333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Long-lived </a:t>
              </a:r>
            </a:p>
            <a:p>
              <a:pPr algn="ctr"/>
              <a:r>
                <a:rPr lang="en-US" dirty="0"/>
                <a:t>TCM cell</a:t>
              </a: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0944116C-32B1-A0BB-BE31-8D5C6AF5C04F}"/>
                </a:ext>
              </a:extLst>
            </p:cNvPr>
            <p:cNvCxnSpPr>
              <a:stCxn id="4" idx="3"/>
              <a:endCxn id="6" idx="1"/>
            </p:cNvCxnSpPr>
            <p:nvPr/>
          </p:nvCxnSpPr>
          <p:spPr>
            <a:xfrm flipV="1">
              <a:off x="1730711" y="1670053"/>
              <a:ext cx="665732" cy="1"/>
            </a:xfrm>
            <a:prstGeom prst="straightConnector1">
              <a:avLst/>
            </a:prstGeom>
            <a:ln w="25400">
              <a:tailEnd type="triangle" w="lg" len="lg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7362735A-E00D-FC42-0924-00F43AFBC20E}"/>
                </a:ext>
              </a:extLst>
            </p:cNvPr>
            <p:cNvCxnSpPr>
              <a:cxnSpLocks/>
              <a:endCxn id="8" idx="1"/>
            </p:cNvCxnSpPr>
            <p:nvPr/>
          </p:nvCxnSpPr>
          <p:spPr>
            <a:xfrm flipV="1">
              <a:off x="3361036" y="840505"/>
              <a:ext cx="936432" cy="504097"/>
            </a:xfrm>
            <a:prstGeom prst="straightConnector1">
              <a:avLst/>
            </a:prstGeom>
            <a:ln w="25400">
              <a:tailEnd type="triangle" w="lg" len="lg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20A87FFA-42A4-BF0F-8C35-76583EABCBB7}"/>
                </a:ext>
              </a:extLst>
            </p:cNvPr>
            <p:cNvCxnSpPr>
              <a:cxnSpLocks/>
              <a:endCxn id="9" idx="1"/>
            </p:cNvCxnSpPr>
            <p:nvPr/>
          </p:nvCxnSpPr>
          <p:spPr>
            <a:xfrm>
              <a:off x="3361036" y="1993218"/>
              <a:ext cx="862675" cy="461665"/>
            </a:xfrm>
            <a:prstGeom prst="straightConnector1">
              <a:avLst/>
            </a:prstGeom>
            <a:ln w="25400">
              <a:tailEnd type="triangle" w="lg" len="lg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D3BF7DB5-FC00-420C-AB39-48C114E1E977}"/>
                </a:ext>
              </a:extLst>
            </p:cNvPr>
            <p:cNvSpPr/>
            <p:nvPr/>
          </p:nvSpPr>
          <p:spPr>
            <a:xfrm>
              <a:off x="2729875" y="791412"/>
              <a:ext cx="586458" cy="541551"/>
            </a:xfrm>
            <a:custGeom>
              <a:avLst/>
              <a:gdLst>
                <a:gd name="connsiteX0" fmla="*/ 335294 w 586458"/>
                <a:gd name="connsiteY0" fmla="*/ 541551 h 541551"/>
                <a:gd name="connsiteX1" fmla="*/ 586432 w 586458"/>
                <a:gd name="connsiteY1" fmla="*/ 303292 h 541551"/>
                <a:gd name="connsiteX2" fmla="*/ 322415 w 586458"/>
                <a:gd name="connsiteY2" fmla="*/ 639 h 541551"/>
                <a:gd name="connsiteX3" fmla="*/ 6883 w 586458"/>
                <a:gd name="connsiteY3" fmla="*/ 232458 h 541551"/>
                <a:gd name="connsiteX4" fmla="*/ 135672 w 586458"/>
                <a:gd name="connsiteY4" fmla="*/ 535112 h 541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6458" h="541551">
                  <a:moveTo>
                    <a:pt x="335294" y="541551"/>
                  </a:moveTo>
                  <a:cubicBezTo>
                    <a:pt x="461936" y="467497"/>
                    <a:pt x="588578" y="393444"/>
                    <a:pt x="586432" y="303292"/>
                  </a:cubicBezTo>
                  <a:cubicBezTo>
                    <a:pt x="584286" y="213140"/>
                    <a:pt x="419006" y="12445"/>
                    <a:pt x="322415" y="639"/>
                  </a:cubicBezTo>
                  <a:cubicBezTo>
                    <a:pt x="225824" y="-11167"/>
                    <a:pt x="38007" y="143379"/>
                    <a:pt x="6883" y="232458"/>
                  </a:cubicBezTo>
                  <a:cubicBezTo>
                    <a:pt x="-24241" y="321537"/>
                    <a:pt x="55715" y="428324"/>
                    <a:pt x="135672" y="535112"/>
                  </a:cubicBezTo>
                </a:path>
              </a:pathLst>
            </a:custGeom>
            <a:noFill/>
            <a:ln>
              <a:solidFill>
                <a:srgbClr val="FF0000"/>
              </a:solidFill>
              <a:tailEnd type="triangle" w="lg" len="lg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24A9765C-79F8-8E68-002A-9372F105C753}"/>
                </a:ext>
              </a:extLst>
            </p:cNvPr>
            <p:cNvSpPr/>
            <p:nvPr/>
          </p:nvSpPr>
          <p:spPr>
            <a:xfrm>
              <a:off x="2856081" y="2021983"/>
              <a:ext cx="1425997" cy="701065"/>
            </a:xfrm>
            <a:custGeom>
              <a:avLst/>
              <a:gdLst>
                <a:gd name="connsiteX0" fmla="*/ 1374629 w 1425997"/>
                <a:gd name="connsiteY0" fmla="*/ 689020 h 701065"/>
                <a:gd name="connsiteX1" fmla="*/ 1284477 w 1425997"/>
                <a:gd name="connsiteY1" fmla="*/ 695459 h 701065"/>
                <a:gd name="connsiteX2" fmla="*/ 170454 w 1425997"/>
                <a:gd name="connsiteY2" fmla="*/ 618186 h 701065"/>
                <a:gd name="connsiteX3" fmla="*/ 22347 w 1425997"/>
                <a:gd name="connsiteY3" fmla="*/ 0 h 701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25997" h="701065">
                  <a:moveTo>
                    <a:pt x="1374629" y="689020"/>
                  </a:moveTo>
                  <a:cubicBezTo>
                    <a:pt x="1429901" y="698142"/>
                    <a:pt x="1485173" y="707265"/>
                    <a:pt x="1284477" y="695459"/>
                  </a:cubicBezTo>
                  <a:cubicBezTo>
                    <a:pt x="1083781" y="683653"/>
                    <a:pt x="380809" y="734096"/>
                    <a:pt x="170454" y="618186"/>
                  </a:cubicBezTo>
                  <a:cubicBezTo>
                    <a:pt x="-39901" y="502276"/>
                    <a:pt x="-8777" y="251138"/>
                    <a:pt x="22347" y="0"/>
                  </a:cubicBezTo>
                </a:path>
              </a:pathLst>
            </a:custGeom>
            <a:noFill/>
            <a:ln>
              <a:solidFill>
                <a:srgbClr val="FF0000"/>
              </a:solidFill>
              <a:tailEnd type="triangle" w="lg" len="lg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0FEF116D-D189-73A8-52D2-107F1E2E42D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75116" y="913124"/>
              <a:ext cx="936432" cy="504097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 w="lg" len="lg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AAABC2CD-48BA-3C8B-4982-78324653474E}"/>
                </a:ext>
              </a:extLst>
            </p:cNvPr>
            <p:cNvSpPr/>
            <p:nvPr/>
          </p:nvSpPr>
          <p:spPr>
            <a:xfrm>
              <a:off x="2611823" y="795710"/>
              <a:ext cx="586458" cy="541551"/>
            </a:xfrm>
            <a:custGeom>
              <a:avLst/>
              <a:gdLst>
                <a:gd name="connsiteX0" fmla="*/ 335294 w 586458"/>
                <a:gd name="connsiteY0" fmla="*/ 541551 h 541551"/>
                <a:gd name="connsiteX1" fmla="*/ 586432 w 586458"/>
                <a:gd name="connsiteY1" fmla="*/ 303292 h 541551"/>
                <a:gd name="connsiteX2" fmla="*/ 322415 w 586458"/>
                <a:gd name="connsiteY2" fmla="*/ 639 h 541551"/>
                <a:gd name="connsiteX3" fmla="*/ 6883 w 586458"/>
                <a:gd name="connsiteY3" fmla="*/ 232458 h 541551"/>
                <a:gd name="connsiteX4" fmla="*/ 135672 w 586458"/>
                <a:gd name="connsiteY4" fmla="*/ 535112 h 541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6458" h="541551">
                  <a:moveTo>
                    <a:pt x="335294" y="541551"/>
                  </a:moveTo>
                  <a:cubicBezTo>
                    <a:pt x="461936" y="467497"/>
                    <a:pt x="588578" y="393444"/>
                    <a:pt x="586432" y="303292"/>
                  </a:cubicBezTo>
                  <a:cubicBezTo>
                    <a:pt x="584286" y="213140"/>
                    <a:pt x="419006" y="12445"/>
                    <a:pt x="322415" y="639"/>
                  </a:cubicBezTo>
                  <a:cubicBezTo>
                    <a:pt x="225824" y="-11167"/>
                    <a:pt x="38007" y="143379"/>
                    <a:pt x="6883" y="232458"/>
                  </a:cubicBezTo>
                  <a:cubicBezTo>
                    <a:pt x="-24241" y="321537"/>
                    <a:pt x="55715" y="428324"/>
                    <a:pt x="135672" y="535112"/>
                  </a:cubicBezTo>
                </a:path>
              </a:pathLst>
            </a:custGeom>
            <a:noFill/>
            <a:ln>
              <a:tailEnd type="triangle" w="lg" len="lg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1A0F7226-6BF7-1F1B-74A0-2C45CF04A53D}"/>
                </a:ext>
              </a:extLst>
            </p:cNvPr>
            <p:cNvCxnSpPr>
              <a:cxnSpLocks/>
            </p:cNvCxnSpPr>
            <p:nvPr/>
          </p:nvCxnSpPr>
          <p:spPr>
            <a:xfrm>
              <a:off x="3310077" y="2084270"/>
              <a:ext cx="862675" cy="461665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 w="lg" len="lg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91C7CC9F-D1F5-F80C-6FDE-DCF7082581B1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4343726" y="1481954"/>
              <a:ext cx="359567" cy="0"/>
            </a:xfrm>
            <a:prstGeom prst="straightConnector1">
              <a:avLst/>
            </a:prstGeom>
            <a:ln w="92075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E48F4F5F-3A30-F2A0-E435-C594EA9C7916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651810" y="1865264"/>
              <a:ext cx="255908" cy="0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D28FF241-01A3-C094-A755-9C53E4B53FE4}"/>
                </a:ext>
              </a:extLst>
            </p:cNvPr>
            <p:cNvSpPr txBox="1"/>
            <p:nvPr/>
          </p:nvSpPr>
          <p:spPr>
            <a:xfrm>
              <a:off x="4603805" y="1285754"/>
              <a:ext cx="75969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death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15434B6E-20E0-884F-D46D-729AB0961A07}"/>
                </a:ext>
              </a:extLst>
            </p:cNvPr>
            <p:cNvSpPr txBox="1"/>
            <p:nvPr/>
          </p:nvSpPr>
          <p:spPr>
            <a:xfrm>
              <a:off x="4842854" y="1684709"/>
              <a:ext cx="53572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death</a:t>
              </a:r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89E90736-E922-45A1-8DEC-86D13A264697}"/>
              </a:ext>
            </a:extLst>
          </p:cNvPr>
          <p:cNvGrpSpPr/>
          <p:nvPr/>
        </p:nvGrpSpPr>
        <p:grpSpPr>
          <a:xfrm>
            <a:off x="6044310" y="364916"/>
            <a:ext cx="6147685" cy="2537708"/>
            <a:chOff x="6044310" y="364916"/>
            <a:chExt cx="6147685" cy="2537708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BB17E6EF-7927-A5CA-47AF-67471FE1B943}"/>
                </a:ext>
              </a:extLst>
            </p:cNvPr>
            <p:cNvSpPr txBox="1"/>
            <p:nvPr/>
          </p:nvSpPr>
          <p:spPr>
            <a:xfrm>
              <a:off x="6044310" y="1332964"/>
              <a:ext cx="964593" cy="646331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Naïve</a:t>
              </a:r>
            </a:p>
            <a:p>
              <a:pPr algn="ctr"/>
              <a:r>
                <a:rPr lang="en-US" dirty="0"/>
                <a:t>B cell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8972B7F4-76A7-732C-6201-E0BDFA3324CD}"/>
                </a:ext>
              </a:extLst>
            </p:cNvPr>
            <p:cNvSpPr txBox="1"/>
            <p:nvPr/>
          </p:nvSpPr>
          <p:spPr>
            <a:xfrm>
              <a:off x="7674635" y="1332963"/>
              <a:ext cx="964593" cy="646331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Prolif.  GC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68B34A97-E541-3087-EFD6-1D16923DBCC6}"/>
                </a:ext>
              </a:extLst>
            </p:cNvPr>
            <p:cNvSpPr txBox="1"/>
            <p:nvPr/>
          </p:nvSpPr>
          <p:spPr>
            <a:xfrm>
              <a:off x="9575660" y="364916"/>
              <a:ext cx="964593" cy="92333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Long-lived PC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44CE5066-E4F7-7AE9-774E-CD5C3A16DBE8}"/>
                </a:ext>
              </a:extLst>
            </p:cNvPr>
            <p:cNvSpPr txBox="1"/>
            <p:nvPr/>
          </p:nvSpPr>
          <p:spPr>
            <a:xfrm>
              <a:off x="9501903" y="1979294"/>
              <a:ext cx="1051857" cy="92333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Long lived MBC</a:t>
              </a:r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52508453-42D3-1CB2-8EB3-D00484B52AA9}"/>
                </a:ext>
              </a:extLst>
            </p:cNvPr>
            <p:cNvCxnSpPr>
              <a:stCxn id="25" idx="3"/>
              <a:endCxn id="26" idx="1"/>
            </p:cNvCxnSpPr>
            <p:nvPr/>
          </p:nvCxnSpPr>
          <p:spPr>
            <a:xfrm flipV="1">
              <a:off x="7008903" y="1656129"/>
              <a:ext cx="665732" cy="1"/>
            </a:xfrm>
            <a:prstGeom prst="straightConnector1">
              <a:avLst/>
            </a:prstGeom>
            <a:ln w="25400">
              <a:tailEnd type="triangle" w="lg" len="lg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4ABF7A61-34FB-1392-1B8C-261240B63D0F}"/>
                </a:ext>
              </a:extLst>
            </p:cNvPr>
            <p:cNvCxnSpPr>
              <a:cxnSpLocks/>
              <a:endCxn id="27" idx="1"/>
            </p:cNvCxnSpPr>
            <p:nvPr/>
          </p:nvCxnSpPr>
          <p:spPr>
            <a:xfrm flipV="1">
              <a:off x="8639228" y="826581"/>
              <a:ext cx="936432" cy="504097"/>
            </a:xfrm>
            <a:prstGeom prst="straightConnector1">
              <a:avLst/>
            </a:prstGeom>
            <a:ln w="25400">
              <a:tailEnd type="triangle" w="lg" len="lg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FFBEC487-275A-4ADF-D29A-094AA6F36D7B}"/>
                </a:ext>
              </a:extLst>
            </p:cNvPr>
            <p:cNvCxnSpPr>
              <a:cxnSpLocks/>
              <a:endCxn id="28" idx="1"/>
            </p:cNvCxnSpPr>
            <p:nvPr/>
          </p:nvCxnSpPr>
          <p:spPr>
            <a:xfrm>
              <a:off x="8639228" y="1979294"/>
              <a:ext cx="862675" cy="461665"/>
            </a:xfrm>
            <a:prstGeom prst="straightConnector1">
              <a:avLst/>
            </a:prstGeom>
            <a:ln w="25400">
              <a:tailEnd type="triangle" w="lg" len="lg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45DD24BC-C3F7-3840-2D41-C37F5830F8FF}"/>
                </a:ext>
              </a:extLst>
            </p:cNvPr>
            <p:cNvSpPr/>
            <p:nvPr/>
          </p:nvSpPr>
          <p:spPr>
            <a:xfrm>
              <a:off x="7885721" y="777488"/>
              <a:ext cx="586458" cy="541551"/>
            </a:xfrm>
            <a:custGeom>
              <a:avLst/>
              <a:gdLst>
                <a:gd name="connsiteX0" fmla="*/ 335294 w 586458"/>
                <a:gd name="connsiteY0" fmla="*/ 541551 h 541551"/>
                <a:gd name="connsiteX1" fmla="*/ 586432 w 586458"/>
                <a:gd name="connsiteY1" fmla="*/ 303292 h 541551"/>
                <a:gd name="connsiteX2" fmla="*/ 322415 w 586458"/>
                <a:gd name="connsiteY2" fmla="*/ 639 h 541551"/>
                <a:gd name="connsiteX3" fmla="*/ 6883 w 586458"/>
                <a:gd name="connsiteY3" fmla="*/ 232458 h 541551"/>
                <a:gd name="connsiteX4" fmla="*/ 135672 w 586458"/>
                <a:gd name="connsiteY4" fmla="*/ 535112 h 541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6458" h="541551">
                  <a:moveTo>
                    <a:pt x="335294" y="541551"/>
                  </a:moveTo>
                  <a:cubicBezTo>
                    <a:pt x="461936" y="467497"/>
                    <a:pt x="588578" y="393444"/>
                    <a:pt x="586432" y="303292"/>
                  </a:cubicBezTo>
                  <a:cubicBezTo>
                    <a:pt x="584286" y="213140"/>
                    <a:pt x="419006" y="12445"/>
                    <a:pt x="322415" y="639"/>
                  </a:cubicBezTo>
                  <a:cubicBezTo>
                    <a:pt x="225824" y="-11167"/>
                    <a:pt x="38007" y="143379"/>
                    <a:pt x="6883" y="232458"/>
                  </a:cubicBezTo>
                  <a:cubicBezTo>
                    <a:pt x="-24241" y="321537"/>
                    <a:pt x="55715" y="428324"/>
                    <a:pt x="135672" y="535112"/>
                  </a:cubicBezTo>
                </a:path>
              </a:pathLst>
            </a:custGeom>
            <a:noFill/>
            <a:ln>
              <a:tailEnd type="triangle" w="lg" len="lg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560F9E67-75E1-D3DC-6E04-EFBF112B3F52}"/>
                </a:ext>
              </a:extLst>
            </p:cNvPr>
            <p:cNvSpPr/>
            <p:nvPr/>
          </p:nvSpPr>
          <p:spPr>
            <a:xfrm>
              <a:off x="8041592" y="777487"/>
              <a:ext cx="586458" cy="541551"/>
            </a:xfrm>
            <a:custGeom>
              <a:avLst/>
              <a:gdLst>
                <a:gd name="connsiteX0" fmla="*/ 335294 w 586458"/>
                <a:gd name="connsiteY0" fmla="*/ 541551 h 541551"/>
                <a:gd name="connsiteX1" fmla="*/ 586432 w 586458"/>
                <a:gd name="connsiteY1" fmla="*/ 303292 h 541551"/>
                <a:gd name="connsiteX2" fmla="*/ 322415 w 586458"/>
                <a:gd name="connsiteY2" fmla="*/ 639 h 541551"/>
                <a:gd name="connsiteX3" fmla="*/ 6883 w 586458"/>
                <a:gd name="connsiteY3" fmla="*/ 232458 h 541551"/>
                <a:gd name="connsiteX4" fmla="*/ 135672 w 586458"/>
                <a:gd name="connsiteY4" fmla="*/ 535112 h 541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6458" h="541551">
                  <a:moveTo>
                    <a:pt x="335294" y="541551"/>
                  </a:moveTo>
                  <a:cubicBezTo>
                    <a:pt x="461936" y="467497"/>
                    <a:pt x="588578" y="393444"/>
                    <a:pt x="586432" y="303292"/>
                  </a:cubicBezTo>
                  <a:cubicBezTo>
                    <a:pt x="584286" y="213140"/>
                    <a:pt x="419006" y="12445"/>
                    <a:pt x="322415" y="639"/>
                  </a:cubicBezTo>
                  <a:cubicBezTo>
                    <a:pt x="225824" y="-11167"/>
                    <a:pt x="38007" y="143379"/>
                    <a:pt x="6883" y="232458"/>
                  </a:cubicBezTo>
                  <a:cubicBezTo>
                    <a:pt x="-24241" y="321537"/>
                    <a:pt x="55715" y="428324"/>
                    <a:pt x="135672" y="535112"/>
                  </a:cubicBezTo>
                </a:path>
              </a:pathLst>
            </a:custGeom>
            <a:noFill/>
            <a:ln>
              <a:solidFill>
                <a:srgbClr val="FF0000"/>
              </a:solidFill>
              <a:tailEnd type="triangle" w="lg" len="lg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3628EA9D-1664-C4E8-67C8-B4DCE45C1C8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653818" y="913124"/>
              <a:ext cx="936432" cy="504097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 w="lg" len="lg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FEFF3668-3D60-977C-7F68-9E90DF2A536F}"/>
                </a:ext>
              </a:extLst>
            </p:cNvPr>
            <p:cNvCxnSpPr>
              <a:cxnSpLocks/>
            </p:cNvCxnSpPr>
            <p:nvPr/>
          </p:nvCxnSpPr>
          <p:spPr>
            <a:xfrm>
              <a:off x="8604986" y="2063552"/>
              <a:ext cx="862675" cy="461665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 w="lg" len="lg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4254CBFC-B411-5A21-0C5E-B207A52B70F4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9980683" y="1430124"/>
              <a:ext cx="255908" cy="0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4E23166A-008D-2797-44D7-17EAF809A34F}"/>
                </a:ext>
              </a:extLst>
            </p:cNvPr>
            <p:cNvSpPr/>
            <p:nvPr/>
          </p:nvSpPr>
          <p:spPr>
            <a:xfrm>
              <a:off x="8024947" y="2033300"/>
              <a:ext cx="1425997" cy="701065"/>
            </a:xfrm>
            <a:custGeom>
              <a:avLst/>
              <a:gdLst>
                <a:gd name="connsiteX0" fmla="*/ 1374629 w 1425997"/>
                <a:gd name="connsiteY0" fmla="*/ 689020 h 701065"/>
                <a:gd name="connsiteX1" fmla="*/ 1284477 w 1425997"/>
                <a:gd name="connsiteY1" fmla="*/ 695459 h 701065"/>
                <a:gd name="connsiteX2" fmla="*/ 170454 w 1425997"/>
                <a:gd name="connsiteY2" fmla="*/ 618186 h 701065"/>
                <a:gd name="connsiteX3" fmla="*/ 22347 w 1425997"/>
                <a:gd name="connsiteY3" fmla="*/ 0 h 701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25997" h="701065">
                  <a:moveTo>
                    <a:pt x="1374629" y="689020"/>
                  </a:moveTo>
                  <a:cubicBezTo>
                    <a:pt x="1429901" y="698142"/>
                    <a:pt x="1485173" y="707265"/>
                    <a:pt x="1284477" y="695459"/>
                  </a:cubicBezTo>
                  <a:cubicBezTo>
                    <a:pt x="1083781" y="683653"/>
                    <a:pt x="380809" y="734096"/>
                    <a:pt x="170454" y="618186"/>
                  </a:cubicBezTo>
                  <a:cubicBezTo>
                    <a:pt x="-39901" y="502276"/>
                    <a:pt x="-8777" y="251138"/>
                    <a:pt x="22347" y="0"/>
                  </a:cubicBezTo>
                </a:path>
              </a:pathLst>
            </a:custGeom>
            <a:noFill/>
            <a:ln>
              <a:solidFill>
                <a:srgbClr val="FF0000"/>
              </a:solidFill>
              <a:tailEnd type="triangle" w="lg" len="lg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4B3F0B56-2961-7EEC-2C32-A8A25D81BA56}"/>
                </a:ext>
              </a:extLst>
            </p:cNvPr>
            <p:cNvCxnSpPr/>
            <p:nvPr/>
          </p:nvCxnSpPr>
          <p:spPr>
            <a:xfrm>
              <a:off x="10627025" y="777487"/>
              <a:ext cx="43161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7B1D5FB7-F9EC-CE30-99A2-AA339118FFF2}"/>
                </a:ext>
              </a:extLst>
            </p:cNvPr>
            <p:cNvSpPr txBox="1"/>
            <p:nvPr/>
          </p:nvSpPr>
          <p:spPr>
            <a:xfrm>
              <a:off x="11030755" y="364916"/>
              <a:ext cx="1161240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Secreted antibody</a:t>
              </a:r>
            </a:p>
            <a:p>
              <a:r>
                <a:rPr lang="en-US" dirty="0"/>
                <a:t>(T</a:t>
              </a:r>
              <a:r>
                <a:rPr lang="en-US" baseline="-25000" dirty="0"/>
                <a:t>1/2</a:t>
              </a:r>
              <a:r>
                <a:rPr lang="en-US" dirty="0"/>
                <a:t>~21d)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45E011E8-28CB-8517-8DB0-969D18F59C3A}"/>
                </a:ext>
              </a:extLst>
            </p:cNvPr>
            <p:cNvSpPr txBox="1"/>
            <p:nvPr/>
          </p:nvSpPr>
          <p:spPr>
            <a:xfrm>
              <a:off x="10145990" y="1337731"/>
              <a:ext cx="1713931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death follows Power-Law</a:t>
              </a:r>
            </a:p>
          </p:txBody>
        </p: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B63C17D0-DD30-AF6E-3558-6D73C8B37845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9955543" y="1844106"/>
              <a:ext cx="255908" cy="0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37DE24D7-9051-041F-ACEC-697614DB20A3}"/>
                </a:ext>
              </a:extLst>
            </p:cNvPr>
            <p:cNvSpPr txBox="1"/>
            <p:nvPr/>
          </p:nvSpPr>
          <p:spPr>
            <a:xfrm>
              <a:off x="10146587" y="1663551"/>
              <a:ext cx="53572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death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FC95BD70-594C-E3B1-2AD9-FA00BB70392A}"/>
              </a:ext>
            </a:extLst>
          </p:cNvPr>
          <p:cNvGrpSpPr/>
          <p:nvPr/>
        </p:nvGrpSpPr>
        <p:grpSpPr>
          <a:xfrm>
            <a:off x="171618" y="3521652"/>
            <a:ext cx="11846954" cy="3279561"/>
            <a:chOff x="171618" y="3521652"/>
            <a:chExt cx="11846954" cy="3279561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A7554098-CBEF-EF87-B466-2D9123097D5B}"/>
                </a:ext>
              </a:extLst>
            </p:cNvPr>
            <p:cNvGrpSpPr/>
            <p:nvPr/>
          </p:nvGrpSpPr>
          <p:grpSpPr>
            <a:xfrm>
              <a:off x="171618" y="3521652"/>
              <a:ext cx="11846954" cy="3279561"/>
              <a:chOff x="171618" y="3521652"/>
              <a:chExt cx="11846954" cy="3279561"/>
            </a:xfrm>
          </p:grpSpPr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5264B08D-903B-6D12-5EE2-0AA0D40FD4E4}"/>
                  </a:ext>
                </a:extLst>
              </p:cNvPr>
              <p:cNvGrpSpPr/>
              <p:nvPr/>
            </p:nvGrpSpPr>
            <p:grpSpPr>
              <a:xfrm>
                <a:off x="301273" y="3593672"/>
                <a:ext cx="11717299" cy="3207541"/>
                <a:chOff x="301273" y="3593672"/>
                <a:chExt cx="11717299" cy="3207541"/>
              </a:xfrm>
            </p:grpSpPr>
            <p:grpSp>
              <p:nvGrpSpPr>
                <p:cNvPr id="17" name="Group 16">
                  <a:extLst>
                    <a:ext uri="{FF2B5EF4-FFF2-40B4-BE49-F238E27FC236}">
                      <a16:creationId xmlns:a16="http://schemas.microsoft.com/office/drawing/2014/main" id="{ACA4A44B-B402-FB68-D014-CAB9685541CA}"/>
                    </a:ext>
                  </a:extLst>
                </p:cNvPr>
                <p:cNvGrpSpPr/>
                <p:nvPr/>
              </p:nvGrpSpPr>
              <p:grpSpPr>
                <a:xfrm>
                  <a:off x="301273" y="3593672"/>
                  <a:ext cx="11717299" cy="3207541"/>
                  <a:chOff x="301273" y="3593672"/>
                  <a:chExt cx="11717299" cy="3207541"/>
                </a:xfrm>
              </p:grpSpPr>
              <p:grpSp>
                <p:nvGrpSpPr>
                  <p:cNvPr id="61" name="Group 60">
                    <a:extLst>
                      <a:ext uri="{FF2B5EF4-FFF2-40B4-BE49-F238E27FC236}">
                        <a16:creationId xmlns:a16="http://schemas.microsoft.com/office/drawing/2014/main" id="{FACE8469-4FFB-4067-B1D6-5445D18B0DBA}"/>
                      </a:ext>
                    </a:extLst>
                  </p:cNvPr>
                  <p:cNvGrpSpPr/>
                  <p:nvPr/>
                </p:nvGrpSpPr>
                <p:grpSpPr>
                  <a:xfrm>
                    <a:off x="301273" y="3904437"/>
                    <a:ext cx="6147685" cy="2896776"/>
                    <a:chOff x="6044310" y="364916"/>
                    <a:chExt cx="6147685" cy="2896776"/>
                  </a:xfrm>
                </p:grpSpPr>
                <p:sp>
                  <p:nvSpPr>
                    <p:cNvPr id="62" name="TextBox 61">
                      <a:extLst>
                        <a:ext uri="{FF2B5EF4-FFF2-40B4-BE49-F238E27FC236}">
                          <a16:creationId xmlns:a16="http://schemas.microsoft.com/office/drawing/2014/main" id="{AD297702-72E1-E866-96EC-D1C7FF0013C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044310" y="1332964"/>
                      <a:ext cx="964593" cy="646331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en-US" dirty="0"/>
                        <a:t>Naïve</a:t>
                      </a:r>
                    </a:p>
                    <a:p>
                      <a:pPr algn="ctr"/>
                      <a:r>
                        <a:rPr lang="en-US" dirty="0"/>
                        <a:t>B cell</a:t>
                      </a:r>
                    </a:p>
                  </p:txBody>
                </p:sp>
                <p:sp>
                  <p:nvSpPr>
                    <p:cNvPr id="63" name="TextBox 62">
                      <a:extLst>
                        <a:ext uri="{FF2B5EF4-FFF2-40B4-BE49-F238E27FC236}">
                          <a16:creationId xmlns:a16="http://schemas.microsoft.com/office/drawing/2014/main" id="{CDCEAD18-7095-2A48-A409-79D96E4C4BE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674635" y="1332963"/>
                      <a:ext cx="964593" cy="646331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en-US" dirty="0"/>
                        <a:t>Prolif.  GC</a:t>
                      </a:r>
                    </a:p>
                  </p:txBody>
                </p:sp>
                <p:sp>
                  <p:nvSpPr>
                    <p:cNvPr id="64" name="TextBox 63">
                      <a:extLst>
                        <a:ext uri="{FF2B5EF4-FFF2-40B4-BE49-F238E27FC236}">
                          <a16:creationId xmlns:a16="http://schemas.microsoft.com/office/drawing/2014/main" id="{CD708520-C14F-419D-5817-F6E94CB5D62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575660" y="364916"/>
                      <a:ext cx="964593" cy="923330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en-US" dirty="0"/>
                        <a:t>Long-lived PC</a:t>
                      </a:r>
                    </a:p>
                  </p:txBody>
                </p:sp>
                <p:sp>
                  <p:nvSpPr>
                    <p:cNvPr id="65" name="TextBox 64">
                      <a:extLst>
                        <a:ext uri="{FF2B5EF4-FFF2-40B4-BE49-F238E27FC236}">
                          <a16:creationId xmlns:a16="http://schemas.microsoft.com/office/drawing/2014/main" id="{E7EDB397-5909-FF2A-6E8E-8B11431B826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501903" y="1979294"/>
                      <a:ext cx="1051857" cy="923330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en-US" dirty="0"/>
                        <a:t>Long lived MBC</a:t>
                      </a:r>
                    </a:p>
                  </p:txBody>
                </p:sp>
                <p:cxnSp>
                  <p:nvCxnSpPr>
                    <p:cNvPr id="66" name="Straight Arrow Connector 65">
                      <a:extLst>
                        <a:ext uri="{FF2B5EF4-FFF2-40B4-BE49-F238E27FC236}">
                          <a16:creationId xmlns:a16="http://schemas.microsoft.com/office/drawing/2014/main" id="{4FD34EDD-6279-0FAA-ABFB-E8108BDEB5B1}"/>
                        </a:ext>
                      </a:extLst>
                    </p:cNvPr>
                    <p:cNvCxnSpPr>
                      <a:stCxn id="62" idx="3"/>
                      <a:endCxn id="63" idx="1"/>
                    </p:cNvCxnSpPr>
                    <p:nvPr/>
                  </p:nvCxnSpPr>
                  <p:spPr>
                    <a:xfrm flipV="1">
                      <a:off x="7008903" y="1656129"/>
                      <a:ext cx="665732" cy="1"/>
                    </a:xfrm>
                    <a:prstGeom prst="straightConnector1">
                      <a:avLst/>
                    </a:prstGeom>
                    <a:ln w="25400">
                      <a:solidFill>
                        <a:srgbClr val="0432FF"/>
                      </a:solidFill>
                      <a:tailEnd type="triangle" w="lg" len="lg"/>
                    </a:ln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7" name="Straight Arrow Connector 66">
                      <a:extLst>
                        <a:ext uri="{FF2B5EF4-FFF2-40B4-BE49-F238E27FC236}">
                          <a16:creationId xmlns:a16="http://schemas.microsoft.com/office/drawing/2014/main" id="{2C53CA31-AF15-A838-CB18-7FC519576109}"/>
                        </a:ext>
                      </a:extLst>
                    </p:cNvPr>
                    <p:cNvCxnSpPr>
                      <a:cxnSpLocks/>
                      <a:endCxn id="64" idx="1"/>
                    </p:cNvCxnSpPr>
                    <p:nvPr/>
                  </p:nvCxnSpPr>
                  <p:spPr>
                    <a:xfrm flipV="1">
                      <a:off x="8639228" y="826581"/>
                      <a:ext cx="936432" cy="504097"/>
                    </a:xfrm>
                    <a:prstGeom prst="straightConnector1">
                      <a:avLst/>
                    </a:prstGeom>
                    <a:ln w="25400">
                      <a:solidFill>
                        <a:srgbClr val="0432FF"/>
                      </a:solidFill>
                      <a:tailEnd type="triangle" w="lg" len="lg"/>
                    </a:ln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8" name="Straight Arrow Connector 67">
                      <a:extLst>
                        <a:ext uri="{FF2B5EF4-FFF2-40B4-BE49-F238E27FC236}">
                          <a16:creationId xmlns:a16="http://schemas.microsoft.com/office/drawing/2014/main" id="{1525B1D6-0664-9019-F87D-5A5059936916}"/>
                        </a:ext>
                      </a:extLst>
                    </p:cNvPr>
                    <p:cNvCxnSpPr>
                      <a:cxnSpLocks/>
                      <a:endCxn id="65" idx="1"/>
                    </p:cNvCxnSpPr>
                    <p:nvPr/>
                  </p:nvCxnSpPr>
                  <p:spPr>
                    <a:xfrm>
                      <a:off x="8639228" y="1979294"/>
                      <a:ext cx="862675" cy="461665"/>
                    </a:xfrm>
                    <a:prstGeom prst="straightConnector1">
                      <a:avLst/>
                    </a:prstGeom>
                    <a:ln w="25400">
                      <a:solidFill>
                        <a:srgbClr val="0432FF"/>
                      </a:solidFill>
                      <a:tailEnd type="triangle" w="lg" len="lg"/>
                    </a:ln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69" name="Freeform 68">
                      <a:extLst>
                        <a:ext uri="{FF2B5EF4-FFF2-40B4-BE49-F238E27FC236}">
                          <a16:creationId xmlns:a16="http://schemas.microsoft.com/office/drawing/2014/main" id="{21605031-062F-16F2-90E9-D9403FFF98C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885721" y="777488"/>
                      <a:ext cx="586458" cy="541551"/>
                    </a:xfrm>
                    <a:custGeom>
                      <a:avLst/>
                      <a:gdLst>
                        <a:gd name="connsiteX0" fmla="*/ 335294 w 586458"/>
                        <a:gd name="connsiteY0" fmla="*/ 541551 h 541551"/>
                        <a:gd name="connsiteX1" fmla="*/ 586432 w 586458"/>
                        <a:gd name="connsiteY1" fmla="*/ 303292 h 541551"/>
                        <a:gd name="connsiteX2" fmla="*/ 322415 w 586458"/>
                        <a:gd name="connsiteY2" fmla="*/ 639 h 541551"/>
                        <a:gd name="connsiteX3" fmla="*/ 6883 w 586458"/>
                        <a:gd name="connsiteY3" fmla="*/ 232458 h 541551"/>
                        <a:gd name="connsiteX4" fmla="*/ 135672 w 586458"/>
                        <a:gd name="connsiteY4" fmla="*/ 535112 h 54155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586458" h="541551">
                          <a:moveTo>
                            <a:pt x="335294" y="541551"/>
                          </a:moveTo>
                          <a:cubicBezTo>
                            <a:pt x="461936" y="467497"/>
                            <a:pt x="588578" y="393444"/>
                            <a:pt x="586432" y="303292"/>
                          </a:cubicBezTo>
                          <a:cubicBezTo>
                            <a:pt x="584286" y="213140"/>
                            <a:pt x="419006" y="12445"/>
                            <a:pt x="322415" y="639"/>
                          </a:cubicBezTo>
                          <a:cubicBezTo>
                            <a:pt x="225824" y="-11167"/>
                            <a:pt x="38007" y="143379"/>
                            <a:pt x="6883" y="232458"/>
                          </a:cubicBezTo>
                          <a:cubicBezTo>
                            <a:pt x="-24241" y="321537"/>
                            <a:pt x="55715" y="428324"/>
                            <a:pt x="135672" y="535112"/>
                          </a:cubicBezTo>
                        </a:path>
                      </a:pathLst>
                    </a:custGeom>
                    <a:noFill/>
                    <a:ln>
                      <a:solidFill>
                        <a:srgbClr val="0432FF"/>
                      </a:solidFill>
                      <a:tailEnd type="triangle" w="lg" len="lg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70" name="Freeform 69">
                      <a:extLst>
                        <a:ext uri="{FF2B5EF4-FFF2-40B4-BE49-F238E27FC236}">
                          <a16:creationId xmlns:a16="http://schemas.microsoft.com/office/drawing/2014/main" id="{BFEC19DE-5A06-37C5-FBB1-5BFD5269403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041592" y="777487"/>
                      <a:ext cx="586458" cy="541551"/>
                    </a:xfrm>
                    <a:custGeom>
                      <a:avLst/>
                      <a:gdLst>
                        <a:gd name="connsiteX0" fmla="*/ 335294 w 586458"/>
                        <a:gd name="connsiteY0" fmla="*/ 541551 h 541551"/>
                        <a:gd name="connsiteX1" fmla="*/ 586432 w 586458"/>
                        <a:gd name="connsiteY1" fmla="*/ 303292 h 541551"/>
                        <a:gd name="connsiteX2" fmla="*/ 322415 w 586458"/>
                        <a:gd name="connsiteY2" fmla="*/ 639 h 541551"/>
                        <a:gd name="connsiteX3" fmla="*/ 6883 w 586458"/>
                        <a:gd name="connsiteY3" fmla="*/ 232458 h 541551"/>
                        <a:gd name="connsiteX4" fmla="*/ 135672 w 586458"/>
                        <a:gd name="connsiteY4" fmla="*/ 535112 h 54155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586458" h="541551">
                          <a:moveTo>
                            <a:pt x="335294" y="541551"/>
                          </a:moveTo>
                          <a:cubicBezTo>
                            <a:pt x="461936" y="467497"/>
                            <a:pt x="588578" y="393444"/>
                            <a:pt x="586432" y="303292"/>
                          </a:cubicBezTo>
                          <a:cubicBezTo>
                            <a:pt x="584286" y="213140"/>
                            <a:pt x="419006" y="12445"/>
                            <a:pt x="322415" y="639"/>
                          </a:cubicBezTo>
                          <a:cubicBezTo>
                            <a:pt x="225824" y="-11167"/>
                            <a:pt x="38007" y="143379"/>
                            <a:pt x="6883" y="232458"/>
                          </a:cubicBezTo>
                          <a:cubicBezTo>
                            <a:pt x="-24241" y="321537"/>
                            <a:pt x="55715" y="428324"/>
                            <a:pt x="135672" y="535112"/>
                          </a:cubicBezTo>
                        </a:path>
                      </a:pathLst>
                    </a:custGeom>
                    <a:noFill/>
                    <a:ln>
                      <a:solidFill>
                        <a:srgbClr val="FF0000"/>
                      </a:solidFill>
                      <a:tailEnd type="triangle" w="lg" len="lg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cxnSp>
                  <p:nvCxnSpPr>
                    <p:cNvPr id="71" name="Straight Arrow Connector 70">
                      <a:extLst>
                        <a:ext uri="{FF2B5EF4-FFF2-40B4-BE49-F238E27FC236}">
                          <a16:creationId xmlns:a16="http://schemas.microsoft.com/office/drawing/2014/main" id="{431DF03C-F267-25CD-2B31-AC57A70BF423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8653818" y="913124"/>
                      <a:ext cx="936432" cy="504097"/>
                    </a:xfrm>
                    <a:prstGeom prst="straightConnector1">
                      <a:avLst/>
                    </a:prstGeom>
                    <a:ln w="25400">
                      <a:solidFill>
                        <a:srgbClr val="FF0000"/>
                      </a:solidFill>
                      <a:tailEnd type="triangle" w="lg" len="lg"/>
                    </a:ln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2" name="Straight Arrow Connector 71">
                      <a:extLst>
                        <a:ext uri="{FF2B5EF4-FFF2-40B4-BE49-F238E27FC236}">
                          <a16:creationId xmlns:a16="http://schemas.microsoft.com/office/drawing/2014/main" id="{6699734D-01B9-9EA3-EE15-94B04A317354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8604986" y="2063552"/>
                      <a:ext cx="862675" cy="461665"/>
                    </a:xfrm>
                    <a:prstGeom prst="straightConnector1">
                      <a:avLst/>
                    </a:prstGeom>
                    <a:ln w="25400">
                      <a:solidFill>
                        <a:srgbClr val="FF0000"/>
                      </a:solidFill>
                      <a:tailEnd type="triangle" w="lg" len="lg"/>
                    </a:ln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3" name="Straight Arrow Connector 72">
                      <a:extLst>
                        <a:ext uri="{FF2B5EF4-FFF2-40B4-BE49-F238E27FC236}">
                          <a16:creationId xmlns:a16="http://schemas.microsoft.com/office/drawing/2014/main" id="{4360E4AB-28B9-48A3-9DCF-02FD76335B43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5400000">
                      <a:off x="9980683" y="1430124"/>
                      <a:ext cx="255908" cy="0"/>
                    </a:xfrm>
                    <a:prstGeom prst="straightConnector1">
                      <a:avLst/>
                    </a:prstGeom>
                    <a:ln w="12700"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74" name="Freeform 73">
                      <a:extLst>
                        <a:ext uri="{FF2B5EF4-FFF2-40B4-BE49-F238E27FC236}">
                          <a16:creationId xmlns:a16="http://schemas.microsoft.com/office/drawing/2014/main" id="{F0C5E6B8-D505-2A6A-718F-5B90F6D2704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024947" y="2033300"/>
                      <a:ext cx="1425997" cy="701065"/>
                    </a:xfrm>
                    <a:custGeom>
                      <a:avLst/>
                      <a:gdLst>
                        <a:gd name="connsiteX0" fmla="*/ 1374629 w 1425997"/>
                        <a:gd name="connsiteY0" fmla="*/ 689020 h 701065"/>
                        <a:gd name="connsiteX1" fmla="*/ 1284477 w 1425997"/>
                        <a:gd name="connsiteY1" fmla="*/ 695459 h 701065"/>
                        <a:gd name="connsiteX2" fmla="*/ 170454 w 1425997"/>
                        <a:gd name="connsiteY2" fmla="*/ 618186 h 701065"/>
                        <a:gd name="connsiteX3" fmla="*/ 22347 w 1425997"/>
                        <a:gd name="connsiteY3" fmla="*/ 0 h 70106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1425997" h="701065">
                          <a:moveTo>
                            <a:pt x="1374629" y="689020"/>
                          </a:moveTo>
                          <a:cubicBezTo>
                            <a:pt x="1429901" y="698142"/>
                            <a:pt x="1485173" y="707265"/>
                            <a:pt x="1284477" y="695459"/>
                          </a:cubicBezTo>
                          <a:cubicBezTo>
                            <a:pt x="1083781" y="683653"/>
                            <a:pt x="380809" y="734096"/>
                            <a:pt x="170454" y="618186"/>
                          </a:cubicBezTo>
                          <a:cubicBezTo>
                            <a:pt x="-39901" y="502276"/>
                            <a:pt x="-8777" y="251138"/>
                            <a:pt x="22347" y="0"/>
                          </a:cubicBezTo>
                        </a:path>
                      </a:pathLst>
                    </a:custGeom>
                    <a:noFill/>
                    <a:ln>
                      <a:solidFill>
                        <a:srgbClr val="FF0000"/>
                      </a:solidFill>
                      <a:tailEnd type="triangle" w="lg" len="lg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cxnSp>
                  <p:nvCxnSpPr>
                    <p:cNvPr id="75" name="Straight Arrow Connector 74">
                      <a:extLst>
                        <a:ext uri="{FF2B5EF4-FFF2-40B4-BE49-F238E27FC236}">
                          <a16:creationId xmlns:a16="http://schemas.microsoft.com/office/drawing/2014/main" id="{13AC4218-2AD3-87EF-3BCA-429359AF2CD7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10627025" y="777487"/>
                      <a:ext cx="431615" cy="0"/>
                    </a:xfrm>
                    <a:prstGeom prst="straightConnector1">
                      <a:avLst/>
                    </a:prstGeom>
                    <a:ln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76" name="TextBox 75">
                      <a:extLst>
                        <a:ext uri="{FF2B5EF4-FFF2-40B4-BE49-F238E27FC236}">
                          <a16:creationId xmlns:a16="http://schemas.microsoft.com/office/drawing/2014/main" id="{95F5ED3C-4136-B1EF-6925-4750EF7BEF6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1030755" y="364916"/>
                      <a:ext cx="1161240" cy="92333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dirty="0"/>
                        <a:t>Secreted antibody</a:t>
                      </a:r>
                    </a:p>
                    <a:p>
                      <a:r>
                        <a:rPr lang="en-US" dirty="0"/>
                        <a:t>(T</a:t>
                      </a:r>
                      <a:r>
                        <a:rPr lang="en-US" baseline="-25000" dirty="0"/>
                        <a:t>1/2</a:t>
                      </a:r>
                      <a:r>
                        <a:rPr lang="en-US" dirty="0"/>
                        <a:t>~21d)</a:t>
                      </a:r>
                    </a:p>
                  </p:txBody>
                </p:sp>
                <p:sp>
                  <p:nvSpPr>
                    <p:cNvPr id="77" name="TextBox 76">
                      <a:extLst>
                        <a:ext uri="{FF2B5EF4-FFF2-40B4-BE49-F238E27FC236}">
                          <a16:creationId xmlns:a16="http://schemas.microsoft.com/office/drawing/2014/main" id="{5C871103-AD85-DCB7-7A42-0EA4EEB0ACB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602097" y="1423766"/>
                      <a:ext cx="2177776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sz="1400" dirty="0"/>
                        <a:t>death  follows Power Law </a:t>
                      </a:r>
                      <a:br>
                        <a:rPr lang="en-US" sz="1400" dirty="0"/>
                      </a:br>
                      <a:r>
                        <a:rPr lang="en-US" sz="1400" dirty="0"/>
                        <a:t>m</a:t>
                      </a:r>
                      <a:r>
                        <a:rPr lang="en-US" sz="1400" baseline="-25000" dirty="0"/>
                        <a:t>p</a:t>
                      </a:r>
                      <a:r>
                        <a:rPr lang="en-US" sz="1400" dirty="0"/>
                        <a:t> (prime) and m</a:t>
                      </a:r>
                      <a:r>
                        <a:rPr lang="en-US" sz="1400" baseline="-25000" dirty="0"/>
                        <a:t>b</a:t>
                      </a:r>
                      <a:r>
                        <a:rPr lang="en-US" sz="1400" dirty="0"/>
                        <a:t> (boost)</a:t>
                      </a:r>
                    </a:p>
                  </p:txBody>
                </p:sp>
                <p:cxnSp>
                  <p:nvCxnSpPr>
                    <p:cNvPr id="78" name="Straight Arrow Connector 77">
                      <a:extLst>
                        <a:ext uri="{FF2B5EF4-FFF2-40B4-BE49-F238E27FC236}">
                          <a16:creationId xmlns:a16="http://schemas.microsoft.com/office/drawing/2014/main" id="{7BCA254A-21DB-CE97-357D-C29E959B5ED4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5400000" flipV="1">
                      <a:off x="9955543" y="3029444"/>
                      <a:ext cx="255908" cy="0"/>
                    </a:xfrm>
                    <a:prstGeom prst="straightConnector1">
                      <a:avLst/>
                    </a:prstGeom>
                    <a:ln w="12700"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79" name="TextBox 78">
                      <a:extLst>
                        <a:ext uri="{FF2B5EF4-FFF2-40B4-BE49-F238E27FC236}">
                          <a16:creationId xmlns:a16="http://schemas.microsoft.com/office/drawing/2014/main" id="{78A96F3C-58C9-2DC8-6806-36FDA6B8E50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380065" y="2953915"/>
                      <a:ext cx="631904" cy="307777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sz="1400" dirty="0"/>
                        <a:t>death</a:t>
                      </a:r>
                    </a:p>
                  </p:txBody>
                </p:sp>
              </p:grpSp>
              <p:pic>
                <p:nvPicPr>
                  <p:cNvPr id="5" name="Content Placeholder 4" descr="A graph of a graph with a line&#10;&#10;Description automatically generated">
                    <a:extLst>
                      <a:ext uri="{FF2B5EF4-FFF2-40B4-BE49-F238E27FC236}">
                        <a16:creationId xmlns:a16="http://schemas.microsoft.com/office/drawing/2014/main" id="{2D88332F-25E5-0A99-5906-60EB99BC1C6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6983127" y="3593672"/>
                    <a:ext cx="4876794" cy="2990924"/>
                  </a:xfrm>
                  <a:prstGeom prst="rect">
                    <a:avLst/>
                  </a:prstGeom>
                </p:spPr>
              </p:pic>
              <p:sp>
                <p:nvSpPr>
                  <p:cNvPr id="10" name="TextBox 9">
                    <a:extLst>
                      <a:ext uri="{FF2B5EF4-FFF2-40B4-BE49-F238E27FC236}">
                        <a16:creationId xmlns:a16="http://schemas.microsoft.com/office/drawing/2014/main" id="{B043819E-F070-76E1-D2ED-2BD612579E15}"/>
                      </a:ext>
                    </a:extLst>
                  </p:cNvPr>
                  <p:cNvSpPr txBox="1"/>
                  <p:nvPr/>
                </p:nvSpPr>
                <p:spPr>
                  <a:xfrm>
                    <a:off x="7566215" y="6307189"/>
                    <a:ext cx="4390946" cy="338554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600" dirty="0"/>
                      <a:t>0                                          1.0                                           2.0</a:t>
                    </a:r>
                  </a:p>
                </p:txBody>
              </p:sp>
              <p:sp>
                <p:nvSpPr>
                  <p:cNvPr id="7" name="TextBox 6">
                    <a:extLst>
                      <a:ext uri="{FF2B5EF4-FFF2-40B4-BE49-F238E27FC236}">
                        <a16:creationId xmlns:a16="http://schemas.microsoft.com/office/drawing/2014/main" id="{5C8F3164-D175-511A-B415-C2E6B7320D95}"/>
                      </a:ext>
                    </a:extLst>
                  </p:cNvPr>
                  <p:cNvSpPr txBox="1"/>
                  <p:nvPr/>
                </p:nvSpPr>
                <p:spPr>
                  <a:xfrm>
                    <a:off x="10029185" y="6413871"/>
                    <a:ext cx="765274" cy="36933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/>
                      <a:t>years </a:t>
                    </a:r>
                  </a:p>
                </p:txBody>
              </p:sp>
              <p:sp>
                <p:nvSpPr>
                  <p:cNvPr id="14" name="TextBox 13">
                    <a:extLst>
                      <a:ext uri="{FF2B5EF4-FFF2-40B4-BE49-F238E27FC236}">
                        <a16:creationId xmlns:a16="http://schemas.microsoft.com/office/drawing/2014/main" id="{5FA88167-A114-A4F4-E12C-7DF5F133B36E}"/>
                      </a:ext>
                    </a:extLst>
                  </p:cNvPr>
                  <p:cNvSpPr txBox="1"/>
                  <p:nvPr/>
                </p:nvSpPr>
                <p:spPr>
                  <a:xfrm>
                    <a:off x="10304641" y="4467097"/>
                    <a:ext cx="1713931" cy="64633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dirty="0"/>
                      <a:t>simulations from </a:t>
                    </a:r>
                    <a:r>
                      <a:rPr lang="en-US" dirty="0" err="1"/>
                      <a:t>eqn</a:t>
                    </a:r>
                    <a:r>
                      <a:rPr lang="en-US" dirty="0"/>
                      <a:t> 4</a:t>
                    </a:r>
                  </a:p>
                </p:txBody>
              </p:sp>
              <p:sp>
                <p:nvSpPr>
                  <p:cNvPr id="16" name="TextBox 15">
                    <a:extLst>
                      <a:ext uri="{FF2B5EF4-FFF2-40B4-BE49-F238E27FC236}">
                        <a16:creationId xmlns:a16="http://schemas.microsoft.com/office/drawing/2014/main" id="{C281BBF7-122B-FE27-8633-831869AE6FD4}"/>
                      </a:ext>
                    </a:extLst>
                  </p:cNvPr>
                  <p:cNvSpPr txBox="1"/>
                  <p:nvPr/>
                </p:nvSpPr>
                <p:spPr>
                  <a:xfrm>
                    <a:off x="9472834" y="5657314"/>
                    <a:ext cx="1569981" cy="64633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en-US" dirty="0">
                        <a:solidFill>
                          <a:srgbClr val="FF0000"/>
                        </a:solidFill>
                      </a:rPr>
                      <a:t>simple power </a:t>
                    </a:r>
                    <a:br>
                      <a:rPr lang="en-US" dirty="0">
                        <a:solidFill>
                          <a:srgbClr val="FF0000"/>
                        </a:solidFill>
                      </a:rPr>
                    </a:br>
                    <a:r>
                      <a:rPr lang="en-US" dirty="0">
                        <a:solidFill>
                          <a:srgbClr val="FF0000"/>
                        </a:solidFill>
                      </a:rPr>
                      <a:t>law decay (m)</a:t>
                    </a:r>
                  </a:p>
                </p:txBody>
              </p:sp>
              <p:sp>
                <p:nvSpPr>
                  <p:cNvPr id="13" name="TextBox 12">
                    <a:extLst>
                      <a:ext uri="{FF2B5EF4-FFF2-40B4-BE49-F238E27FC236}">
                        <a16:creationId xmlns:a16="http://schemas.microsoft.com/office/drawing/2014/main" id="{1BCDBD38-367E-BCF4-BD2A-4BF840DFE86D}"/>
                      </a:ext>
                    </a:extLst>
                  </p:cNvPr>
                  <p:cNvSpPr txBox="1"/>
                  <p:nvPr/>
                </p:nvSpPr>
                <p:spPr>
                  <a:xfrm rot="16200000">
                    <a:off x="5798413" y="4863575"/>
                    <a:ext cx="2282100" cy="36933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/>
                      <a:t>Scaled antibody titer </a:t>
                    </a:r>
                  </a:p>
                </p:txBody>
              </p:sp>
            </p:grpSp>
            <p:sp>
              <p:nvSpPr>
                <p:cNvPr id="2" name="Rectangle 1">
                  <a:extLst>
                    <a:ext uri="{FF2B5EF4-FFF2-40B4-BE49-F238E27FC236}">
                      <a16:creationId xmlns:a16="http://schemas.microsoft.com/office/drawing/2014/main" id="{9A18ECD4-FAA2-6EFB-F2C6-9EF707B8AD0C}"/>
                    </a:ext>
                  </a:extLst>
                </p:cNvPr>
                <p:cNvSpPr/>
                <p:nvPr/>
              </p:nvSpPr>
              <p:spPr>
                <a:xfrm>
                  <a:off x="7497007" y="3634720"/>
                  <a:ext cx="4317168" cy="2639166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ADD9DAF-BB79-7E8E-6B31-CADA1E0D086E}"/>
                  </a:ext>
                </a:extLst>
              </p:cNvPr>
              <p:cNvSpPr txBox="1"/>
              <p:nvPr/>
            </p:nvSpPr>
            <p:spPr>
              <a:xfrm>
                <a:off x="171618" y="3521652"/>
                <a:ext cx="36580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A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0D24633-F0FC-FA05-EE83-F64C1D2EF459}"/>
                  </a:ext>
                </a:extLst>
              </p:cNvPr>
              <p:cNvSpPr txBox="1"/>
              <p:nvPr/>
            </p:nvSpPr>
            <p:spPr>
              <a:xfrm>
                <a:off x="6484215" y="3593672"/>
                <a:ext cx="37061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B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95B1B01-040E-7AC7-2057-122A268DD51B}"/>
                  </a:ext>
                </a:extLst>
              </p:cNvPr>
              <p:cNvSpPr txBox="1"/>
              <p:nvPr/>
            </p:nvSpPr>
            <p:spPr>
              <a:xfrm>
                <a:off x="7494287" y="5084501"/>
                <a:ext cx="1569981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/>
                  <a:t>simple power </a:t>
                </a:r>
                <a:br>
                  <a:rPr lang="en-US" dirty="0"/>
                </a:br>
                <a:r>
                  <a:rPr lang="en-US" dirty="0"/>
                  <a:t>law decay (m)</a:t>
                </a:r>
              </a:p>
            </p:txBody>
          </p:sp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B51380E-A1F5-78F2-E8F2-098256C742A8}"/>
                </a:ext>
              </a:extLst>
            </p:cNvPr>
            <p:cNvSpPr txBox="1"/>
            <p:nvPr/>
          </p:nvSpPr>
          <p:spPr>
            <a:xfrm>
              <a:off x="7005868" y="3567809"/>
              <a:ext cx="478991" cy="33855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10</a:t>
              </a:r>
              <a:r>
                <a:rPr lang="en-US" sz="1600" baseline="30000" dirty="0"/>
                <a:t>5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D61315A5-6C03-1025-6B56-5C56EA2557E7}"/>
                </a:ext>
              </a:extLst>
            </p:cNvPr>
            <p:cNvSpPr txBox="1"/>
            <p:nvPr/>
          </p:nvSpPr>
          <p:spPr>
            <a:xfrm>
              <a:off x="7006149" y="6077576"/>
              <a:ext cx="478991" cy="33855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10</a:t>
              </a:r>
              <a:r>
                <a:rPr lang="en-US" sz="1600" baseline="30000" dirty="0"/>
                <a:t>3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36CCD46B-52A8-6059-B9D9-F7026FB9E6D5}"/>
                </a:ext>
              </a:extLst>
            </p:cNvPr>
            <p:cNvSpPr txBox="1"/>
            <p:nvPr/>
          </p:nvSpPr>
          <p:spPr>
            <a:xfrm>
              <a:off x="7016656" y="4811230"/>
              <a:ext cx="478991" cy="33855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10</a:t>
              </a:r>
              <a:r>
                <a:rPr lang="en-US" sz="1600" baseline="30000" dirty="0"/>
                <a:t>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013261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 descr="A graph of a graph showing the value of a graph&#10;&#10;Description automatically generated with medium confidence">
            <a:extLst>
              <a:ext uri="{FF2B5EF4-FFF2-40B4-BE49-F238E27FC236}">
                <a16:creationId xmlns:a16="http://schemas.microsoft.com/office/drawing/2014/main" id="{88E7ECFA-223F-30CE-F9A1-F06A67668F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27648" y="1825625"/>
            <a:ext cx="8536704" cy="4351338"/>
          </a:xfr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4351E83-3B93-75EA-A066-679F08092114}"/>
              </a:ext>
            </a:extLst>
          </p:cNvPr>
          <p:cNvSpPr txBox="1"/>
          <p:nvPr/>
        </p:nvSpPr>
        <p:spPr>
          <a:xfrm>
            <a:off x="3048000" y="324582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Times"/>
              </a:rPr>
              <a:t> </a:t>
            </a:r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5CA1F9A-9FFC-C7F9-D7F3-2FD2790FBA4F}"/>
              </a:ext>
            </a:extLst>
          </p:cNvPr>
          <p:cNvSpPr/>
          <p:nvPr/>
        </p:nvSpPr>
        <p:spPr>
          <a:xfrm>
            <a:off x="1827648" y="1668483"/>
            <a:ext cx="1010555" cy="390104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0E01A9-E00F-77EA-94C7-82EB809DF94E}"/>
              </a:ext>
            </a:extLst>
          </p:cNvPr>
          <p:cNvSpPr/>
          <p:nvPr/>
        </p:nvSpPr>
        <p:spPr>
          <a:xfrm rot="5400000">
            <a:off x="6358366" y="2170977"/>
            <a:ext cx="548059" cy="74639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7845E63-56F0-B201-6E75-160197675224}"/>
              </a:ext>
            </a:extLst>
          </p:cNvPr>
          <p:cNvSpPr txBox="1"/>
          <p:nvPr/>
        </p:nvSpPr>
        <p:spPr>
          <a:xfrm>
            <a:off x="6011277" y="5838409"/>
            <a:ext cx="1242231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600" dirty="0"/>
              <a:t>time (years)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4B5D2DD-EB6E-00F0-5938-62823657F26D}"/>
              </a:ext>
            </a:extLst>
          </p:cNvPr>
          <p:cNvSpPr txBox="1"/>
          <p:nvPr/>
        </p:nvSpPr>
        <p:spPr>
          <a:xfrm>
            <a:off x="2547420" y="5189517"/>
            <a:ext cx="321623" cy="3231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500" dirty="0"/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F3225DA-5C62-ACE6-11CE-ACB1AD461B41}"/>
              </a:ext>
            </a:extLst>
          </p:cNvPr>
          <p:cNvSpPr txBox="1"/>
          <p:nvPr/>
        </p:nvSpPr>
        <p:spPr>
          <a:xfrm>
            <a:off x="2539008" y="3510218"/>
            <a:ext cx="321623" cy="3231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500" dirty="0"/>
              <a:t>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706E3FD-2E56-138B-7235-538183C67FEE}"/>
              </a:ext>
            </a:extLst>
          </p:cNvPr>
          <p:cNvSpPr txBox="1"/>
          <p:nvPr/>
        </p:nvSpPr>
        <p:spPr>
          <a:xfrm>
            <a:off x="2541482" y="1830919"/>
            <a:ext cx="321623" cy="3231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500" dirty="0"/>
              <a:t>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2FBBA9A-CCD2-8B71-F7AD-3992D03B56BC}"/>
              </a:ext>
            </a:extLst>
          </p:cNvPr>
          <p:cNvSpPr txBox="1"/>
          <p:nvPr/>
        </p:nvSpPr>
        <p:spPr>
          <a:xfrm>
            <a:off x="3095029" y="5586107"/>
            <a:ext cx="321623" cy="3231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500" dirty="0"/>
              <a:t>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9527110-6B4D-E0E9-8FEE-8177513036EE}"/>
              </a:ext>
            </a:extLst>
          </p:cNvPr>
          <p:cNvSpPr txBox="1"/>
          <p:nvPr/>
        </p:nvSpPr>
        <p:spPr>
          <a:xfrm>
            <a:off x="6471582" y="5593274"/>
            <a:ext cx="321623" cy="3231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5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9A4EED3-12FF-C3F2-EE34-B5F22B1505E7}"/>
              </a:ext>
            </a:extLst>
          </p:cNvPr>
          <p:cNvSpPr txBox="1"/>
          <p:nvPr/>
        </p:nvSpPr>
        <p:spPr>
          <a:xfrm>
            <a:off x="9842197" y="5592046"/>
            <a:ext cx="321623" cy="3231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500" dirty="0"/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55B80CE-29F6-D6FB-2C44-6E2957EBDE68}"/>
              </a:ext>
            </a:extLst>
          </p:cNvPr>
          <p:cNvSpPr txBox="1"/>
          <p:nvPr/>
        </p:nvSpPr>
        <p:spPr>
          <a:xfrm rot="16200000">
            <a:off x="1226793" y="3259722"/>
            <a:ext cx="2196935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600" dirty="0"/>
              <a:t>log</a:t>
            </a:r>
            <a:r>
              <a:rPr lang="en-US" sz="1600" baseline="-25000" dirty="0"/>
              <a:t>10</a:t>
            </a:r>
            <a:r>
              <a:rPr lang="en-US" sz="1600" dirty="0"/>
              <a:t> scaled titer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AC22C99-D827-07F7-D0D6-3DD9C76FED39}"/>
              </a:ext>
            </a:extLst>
          </p:cNvPr>
          <p:cNvCxnSpPr>
            <a:cxnSpLocks/>
          </p:cNvCxnSpPr>
          <p:nvPr/>
        </p:nvCxnSpPr>
        <p:spPr>
          <a:xfrm flipV="1">
            <a:off x="3238702" y="4688919"/>
            <a:ext cx="0" cy="561250"/>
          </a:xfrm>
          <a:prstGeom prst="straightConnector1">
            <a:avLst/>
          </a:prstGeom>
          <a:ln>
            <a:solidFill>
              <a:srgbClr val="0432FF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701B9BC-601E-03CF-F285-52E41F45E99C}"/>
              </a:ext>
            </a:extLst>
          </p:cNvPr>
          <p:cNvCxnSpPr>
            <a:cxnSpLocks/>
          </p:cNvCxnSpPr>
          <p:nvPr/>
        </p:nvCxnSpPr>
        <p:spPr>
          <a:xfrm flipV="1">
            <a:off x="6609315" y="4688919"/>
            <a:ext cx="0" cy="561250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E3F4BE12-C2D1-E52E-B522-F107C511BF61}"/>
              </a:ext>
            </a:extLst>
          </p:cNvPr>
          <p:cNvSpPr txBox="1"/>
          <p:nvPr/>
        </p:nvSpPr>
        <p:spPr>
          <a:xfrm>
            <a:off x="8162459" y="3670746"/>
            <a:ext cx="2278456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observed (total) titer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6D74D89-4D40-C7A4-905A-6F4336701226}"/>
              </a:ext>
            </a:extLst>
          </p:cNvPr>
          <p:cNvSpPr txBox="1"/>
          <p:nvPr/>
        </p:nvSpPr>
        <p:spPr>
          <a:xfrm>
            <a:off x="8875916" y="4062328"/>
            <a:ext cx="1564999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432FF"/>
                </a:solidFill>
              </a:rPr>
              <a:t>from primary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AA67C7E-C8D2-8D79-4E99-80FDB79E34D7}"/>
              </a:ext>
            </a:extLst>
          </p:cNvPr>
          <p:cNvSpPr txBox="1"/>
          <p:nvPr/>
        </p:nvSpPr>
        <p:spPr>
          <a:xfrm>
            <a:off x="9061603" y="4550188"/>
            <a:ext cx="1258052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from boost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70F5A12-2A8A-5B31-5111-4F8DB84D22CA}"/>
              </a:ext>
            </a:extLst>
          </p:cNvPr>
          <p:cNvSpPr txBox="1"/>
          <p:nvPr/>
        </p:nvSpPr>
        <p:spPr>
          <a:xfrm>
            <a:off x="6574112" y="4881474"/>
            <a:ext cx="109815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4x boost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AB8147B-B992-6AF0-2348-5ABC3C51B485}"/>
              </a:ext>
            </a:extLst>
          </p:cNvPr>
          <p:cNvSpPr txBox="1"/>
          <p:nvPr/>
        </p:nvSpPr>
        <p:spPr>
          <a:xfrm>
            <a:off x="3208226" y="4862323"/>
            <a:ext cx="2022851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432FF"/>
                </a:solidFill>
              </a:rPr>
              <a:t>primary response</a:t>
            </a:r>
          </a:p>
        </p:txBody>
      </p:sp>
    </p:spTree>
    <p:extLst>
      <p:ext uri="{BB962C8B-B14F-4D97-AF65-F5344CB8AC3E}">
        <p14:creationId xmlns:p14="http://schemas.microsoft.com/office/powerpoint/2010/main" val="27177272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AD8347F1-242A-B59F-C678-A6FACF6EF54A}"/>
              </a:ext>
            </a:extLst>
          </p:cNvPr>
          <p:cNvGrpSpPr/>
          <p:nvPr/>
        </p:nvGrpSpPr>
        <p:grpSpPr>
          <a:xfrm>
            <a:off x="120398" y="235808"/>
            <a:ext cx="11951204" cy="5054317"/>
            <a:chOff x="120398" y="235808"/>
            <a:chExt cx="11951204" cy="5054317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3614EAB6-2DA9-1058-C225-7696A7A3EE24}"/>
                </a:ext>
              </a:extLst>
            </p:cNvPr>
            <p:cNvGrpSpPr/>
            <p:nvPr/>
          </p:nvGrpSpPr>
          <p:grpSpPr>
            <a:xfrm>
              <a:off x="120398" y="235808"/>
              <a:ext cx="11951204" cy="4855176"/>
              <a:chOff x="120398" y="235808"/>
              <a:chExt cx="11951204" cy="4855176"/>
            </a:xfrm>
          </p:grpSpPr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F8C298B4-0A7E-27AB-AD02-E5975D29A3FC}"/>
                  </a:ext>
                </a:extLst>
              </p:cNvPr>
              <p:cNvGrpSpPr/>
              <p:nvPr/>
            </p:nvGrpSpPr>
            <p:grpSpPr>
              <a:xfrm>
                <a:off x="120398" y="235808"/>
                <a:ext cx="11951204" cy="4855176"/>
                <a:chOff x="120398" y="235808"/>
                <a:chExt cx="11951204" cy="4855176"/>
              </a:xfrm>
            </p:grpSpPr>
            <p:pic>
              <p:nvPicPr>
                <p:cNvPr id="7" name="Picture 6">
                  <a:extLst>
                    <a:ext uri="{FF2B5EF4-FFF2-40B4-BE49-F238E27FC236}">
                      <a16:creationId xmlns:a16="http://schemas.microsoft.com/office/drawing/2014/main" id="{36D72E44-C4E3-6CB3-481A-C3DC59ED5C4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120398" y="235808"/>
                  <a:ext cx="11951204" cy="4855176"/>
                </a:xfrm>
                <a:prstGeom prst="rect">
                  <a:avLst/>
                </a:prstGeom>
              </p:spPr>
            </p:pic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2C79A37E-4BBF-CF1B-E992-5FD3AD7ADE09}"/>
                    </a:ext>
                  </a:extLst>
                </p:cNvPr>
                <p:cNvSpPr txBox="1"/>
                <p:nvPr/>
              </p:nvSpPr>
              <p:spPr>
                <a:xfrm>
                  <a:off x="4658497" y="345989"/>
                  <a:ext cx="4902176" cy="36933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chemeClr val="accent6">
                          <a:lumMod val="75000"/>
                        </a:schemeClr>
                      </a:solidFill>
                    </a:rPr>
                    <a:t>Primary vaccination  </a:t>
                  </a:r>
                  <a:r>
                    <a:rPr lang="en-US" dirty="0">
                      <a:solidFill>
                        <a:srgbClr val="0432FF"/>
                      </a:solidFill>
                    </a:rPr>
                    <a:t>First boost      </a:t>
                  </a:r>
                  <a:r>
                    <a:rPr lang="en-US" dirty="0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</a:rPr>
                    <a:t>Second boost</a:t>
                  </a:r>
                </a:p>
              </p:txBody>
            </p:sp>
          </p:grp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BB3D9CA-5F96-FB6D-480D-EC185489C0A2}"/>
                  </a:ext>
                </a:extLst>
              </p:cNvPr>
              <p:cNvSpPr txBox="1"/>
              <p:nvPr/>
            </p:nvSpPr>
            <p:spPr>
              <a:xfrm>
                <a:off x="2125362" y="2478730"/>
                <a:ext cx="889090" cy="369332"/>
              </a:xfrm>
              <a:prstGeom prst="rect">
                <a:avLst/>
              </a:prstGeom>
              <a:solidFill>
                <a:schemeClr val="bg1">
                  <a:alpha val="68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natural</a:t>
                </a:r>
              </a:p>
            </p:txBody>
          </p:sp>
        </p:grp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32AFE769-56F1-C71D-997E-6D642B88F168}"/>
                </a:ext>
              </a:extLst>
            </p:cNvPr>
            <p:cNvSpPr txBox="1"/>
            <p:nvPr/>
          </p:nvSpPr>
          <p:spPr>
            <a:xfrm>
              <a:off x="1112363" y="4920793"/>
              <a:ext cx="10716652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dirty="0"/>
                <a:t>March 2020                                          March 2021                                           March 2022                                          March 2023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91B88B65-5010-55C7-0E3F-849CD127AA32}"/>
                </a:ext>
              </a:extLst>
            </p:cNvPr>
            <p:cNvSpPr txBox="1"/>
            <p:nvPr/>
          </p:nvSpPr>
          <p:spPr>
            <a:xfrm rot="16200000">
              <a:off x="-1658037" y="2309091"/>
              <a:ext cx="3926203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SARS-CoV-2 spike antibody titter          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F335E43D-5F17-97A2-E1CB-49FFE7201ED6}"/>
                </a:ext>
              </a:extLst>
            </p:cNvPr>
            <p:cNvSpPr txBox="1"/>
            <p:nvPr/>
          </p:nvSpPr>
          <p:spPr>
            <a:xfrm>
              <a:off x="1112363" y="4166647"/>
              <a:ext cx="11369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threshold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522521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>
            <a:extLst>
              <a:ext uri="{FF2B5EF4-FFF2-40B4-BE49-F238E27FC236}">
                <a16:creationId xmlns:a16="http://schemas.microsoft.com/office/drawing/2014/main" id="{F3404AEF-8FA2-D346-8931-BBB6B9A6EADA}"/>
              </a:ext>
            </a:extLst>
          </p:cNvPr>
          <p:cNvGrpSpPr/>
          <p:nvPr/>
        </p:nvGrpSpPr>
        <p:grpSpPr>
          <a:xfrm>
            <a:off x="595083" y="291825"/>
            <a:ext cx="8491861" cy="2588523"/>
            <a:chOff x="1021803" y="312145"/>
            <a:chExt cx="8491861" cy="2588523"/>
          </a:xfrm>
        </p:grpSpPr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0DB5BFD4-CD4C-4466-8152-2EBEC31563DD}"/>
                </a:ext>
              </a:extLst>
            </p:cNvPr>
            <p:cNvSpPr/>
            <p:nvPr/>
          </p:nvSpPr>
          <p:spPr>
            <a:xfrm>
              <a:off x="1667933" y="1507067"/>
              <a:ext cx="939800" cy="93980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8FEFA5B3-7A9D-2B15-3694-2B2B46DDEC2A}"/>
                </a:ext>
              </a:extLst>
            </p:cNvPr>
            <p:cNvSpPr/>
            <p:nvPr/>
          </p:nvSpPr>
          <p:spPr>
            <a:xfrm>
              <a:off x="3585633" y="1507067"/>
              <a:ext cx="939800" cy="93980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06EB0E08-3442-CF11-0870-72663374186B}"/>
                </a:ext>
              </a:extLst>
            </p:cNvPr>
            <p:cNvSpPr/>
            <p:nvPr/>
          </p:nvSpPr>
          <p:spPr>
            <a:xfrm>
              <a:off x="6451600" y="1507067"/>
              <a:ext cx="939800" cy="93980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BE6C41B9-3D5A-A90C-1C8A-1DF1E02A7CC5}"/>
                </a:ext>
              </a:extLst>
            </p:cNvPr>
            <p:cNvCxnSpPr/>
            <p:nvPr/>
          </p:nvCxnSpPr>
          <p:spPr>
            <a:xfrm>
              <a:off x="2620433" y="1803400"/>
              <a:ext cx="952500" cy="0"/>
            </a:xfrm>
            <a:prstGeom prst="straightConnector1">
              <a:avLst/>
            </a:prstGeom>
            <a:ln>
              <a:solidFill>
                <a:srgbClr val="0432FF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857E7C06-7A5F-58FB-73EA-71760528CE04}"/>
                </a:ext>
              </a:extLst>
            </p:cNvPr>
            <p:cNvCxnSpPr/>
            <p:nvPr/>
          </p:nvCxnSpPr>
          <p:spPr>
            <a:xfrm>
              <a:off x="5499100" y="1803400"/>
              <a:ext cx="952500" cy="0"/>
            </a:xfrm>
            <a:prstGeom prst="straightConnector1">
              <a:avLst/>
            </a:prstGeom>
            <a:ln>
              <a:solidFill>
                <a:srgbClr val="0432FF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EA2535A0-E881-DFE2-1840-174140EF9C1A}"/>
                </a:ext>
              </a:extLst>
            </p:cNvPr>
            <p:cNvCxnSpPr/>
            <p:nvPr/>
          </p:nvCxnSpPr>
          <p:spPr>
            <a:xfrm>
              <a:off x="2620433" y="2057400"/>
              <a:ext cx="952500" cy="0"/>
            </a:xfrm>
            <a:prstGeom prst="straightConnector1">
              <a:avLst/>
            </a:prstGeom>
            <a:ln w="12700">
              <a:solidFill>
                <a:srgbClr val="0432FF"/>
              </a:solidFill>
              <a:headEnd type="stealth"/>
              <a:tailEnd type="non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E8987EBC-E512-A166-9134-E48C2E0891B7}"/>
                </a:ext>
              </a:extLst>
            </p:cNvPr>
            <p:cNvCxnSpPr/>
            <p:nvPr/>
          </p:nvCxnSpPr>
          <p:spPr>
            <a:xfrm>
              <a:off x="5499100" y="2057400"/>
              <a:ext cx="952500" cy="0"/>
            </a:xfrm>
            <a:prstGeom prst="straightConnector1">
              <a:avLst/>
            </a:prstGeom>
            <a:ln w="12700">
              <a:solidFill>
                <a:srgbClr val="0432FF"/>
              </a:solidFill>
              <a:headEnd type="stealth"/>
              <a:tailEnd type="non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A3C984E-E8B0-5293-3AB9-0A6D25BC03CA}"/>
                </a:ext>
              </a:extLst>
            </p:cNvPr>
            <p:cNvSpPr txBox="1"/>
            <p:nvPr/>
          </p:nvSpPr>
          <p:spPr>
            <a:xfrm>
              <a:off x="1876067" y="1715357"/>
              <a:ext cx="51167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X</a:t>
              </a:r>
              <a:r>
                <a:rPr lang="en-US" sz="2800" baseline="-25000" dirty="0"/>
                <a:t>1</a:t>
              </a:r>
              <a:endParaRPr lang="en-US" sz="2800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8F6B09F-E088-853C-682D-76A6756826AB}"/>
                </a:ext>
              </a:extLst>
            </p:cNvPr>
            <p:cNvSpPr txBox="1"/>
            <p:nvPr/>
          </p:nvSpPr>
          <p:spPr>
            <a:xfrm>
              <a:off x="3839193" y="1715357"/>
              <a:ext cx="51167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X</a:t>
              </a:r>
              <a:r>
                <a:rPr lang="en-US" sz="2800" baseline="-25000" dirty="0"/>
                <a:t>2</a:t>
              </a:r>
              <a:endParaRPr lang="en-US" sz="2800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7AAC927-A5A3-E46E-924E-137CA30A9A23}"/>
                </a:ext>
              </a:extLst>
            </p:cNvPr>
            <p:cNvSpPr txBox="1"/>
            <p:nvPr/>
          </p:nvSpPr>
          <p:spPr>
            <a:xfrm>
              <a:off x="6717397" y="1715357"/>
              <a:ext cx="51488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 err="1"/>
                <a:t>X</a:t>
              </a:r>
              <a:r>
                <a:rPr lang="en-US" sz="2800" baseline="-25000" dirty="0" err="1"/>
                <a:t>n</a:t>
              </a:r>
              <a:endParaRPr lang="en-US" sz="2800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A60394F-93DC-402D-F7C5-C71C5D301645}"/>
                </a:ext>
              </a:extLst>
            </p:cNvPr>
            <p:cNvSpPr txBox="1"/>
            <p:nvPr/>
          </p:nvSpPr>
          <p:spPr>
            <a:xfrm>
              <a:off x="4846320" y="1803400"/>
              <a:ext cx="5052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…..</a:t>
              </a:r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E1323816-59B4-2BD0-B437-39FEB529D2E3}"/>
                </a:ext>
              </a:extLst>
            </p:cNvPr>
            <p:cNvCxnSpPr>
              <a:stCxn id="4" idx="2"/>
            </p:cNvCxnSpPr>
            <p:nvPr/>
          </p:nvCxnSpPr>
          <p:spPr>
            <a:xfrm>
              <a:off x="2137833" y="2446867"/>
              <a:ext cx="3630" cy="408093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64E40174-7EF3-C648-6A1B-CCFF35D5E40E}"/>
                </a:ext>
              </a:extLst>
            </p:cNvPr>
            <p:cNvCxnSpPr/>
            <p:nvPr/>
          </p:nvCxnSpPr>
          <p:spPr>
            <a:xfrm>
              <a:off x="4190153" y="2446866"/>
              <a:ext cx="3630" cy="40809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95FE9CF4-59BD-7997-C1C1-FE46E3F736BD}"/>
                </a:ext>
              </a:extLst>
            </p:cNvPr>
            <p:cNvCxnSpPr/>
            <p:nvPr/>
          </p:nvCxnSpPr>
          <p:spPr>
            <a:xfrm>
              <a:off x="7075593" y="2446866"/>
              <a:ext cx="3630" cy="408093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77FF535F-2429-5F36-C109-C9801A50FF11}"/>
                </a:ext>
              </a:extLst>
            </p:cNvPr>
            <p:cNvSpPr txBox="1"/>
            <p:nvPr/>
          </p:nvSpPr>
          <p:spPr>
            <a:xfrm>
              <a:off x="2235288" y="2516200"/>
              <a:ext cx="3962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d</a:t>
              </a:r>
              <a:r>
                <a:rPr lang="en-US" baseline="-25000" dirty="0"/>
                <a:t>1</a:t>
              </a:r>
              <a:endParaRPr lang="en-US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B434F50-4470-24DF-9CAE-E95410DF6C37}"/>
                </a:ext>
              </a:extLst>
            </p:cNvPr>
            <p:cNvSpPr txBox="1"/>
            <p:nvPr/>
          </p:nvSpPr>
          <p:spPr>
            <a:xfrm>
              <a:off x="4259900" y="2466246"/>
              <a:ext cx="3962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d</a:t>
              </a:r>
              <a:r>
                <a:rPr lang="en-US" baseline="-25000" dirty="0"/>
                <a:t>2</a:t>
              </a:r>
              <a:endParaRPr lang="en-US" dirty="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CB021356-EFF7-1009-5A19-452B24C688A8}"/>
                </a:ext>
              </a:extLst>
            </p:cNvPr>
            <p:cNvSpPr txBox="1"/>
            <p:nvPr/>
          </p:nvSpPr>
          <p:spPr>
            <a:xfrm>
              <a:off x="6672668" y="2531336"/>
              <a:ext cx="3994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d</a:t>
              </a:r>
              <a:r>
                <a:rPr lang="en-US" baseline="-25000" dirty="0" err="1"/>
                <a:t>n</a:t>
              </a:r>
              <a:endParaRPr lang="en-US" dirty="0"/>
            </a:p>
          </p:txBody>
        </p:sp>
        <p:sp>
          <p:nvSpPr>
            <p:cNvPr id="27" name="Arc 26">
              <a:extLst>
                <a:ext uri="{FF2B5EF4-FFF2-40B4-BE49-F238E27FC236}">
                  <a16:creationId xmlns:a16="http://schemas.microsoft.com/office/drawing/2014/main" id="{8D81277F-F4E7-B534-A7EF-C37CA766DCEB}"/>
                </a:ext>
              </a:extLst>
            </p:cNvPr>
            <p:cNvSpPr/>
            <p:nvPr/>
          </p:nvSpPr>
          <p:spPr>
            <a:xfrm rot="10800000">
              <a:off x="1284172" y="671502"/>
              <a:ext cx="803126" cy="1227006"/>
            </a:xfrm>
            <a:prstGeom prst="arc">
              <a:avLst>
                <a:gd name="adj1" fmla="val 16200000"/>
                <a:gd name="adj2" fmla="val 21330930"/>
              </a:avLst>
            </a:prstGeom>
            <a:ln>
              <a:solidFill>
                <a:srgbClr val="0432FF"/>
              </a:solidFill>
              <a:headEnd type="stealth" w="lg" len="lg"/>
              <a:tailEnd type="non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6F2FE18-993C-ABED-807D-93F410F024AD}"/>
                </a:ext>
              </a:extLst>
            </p:cNvPr>
            <p:cNvSpPr txBox="1"/>
            <p:nvPr/>
          </p:nvSpPr>
          <p:spPr>
            <a:xfrm>
              <a:off x="1021803" y="683548"/>
              <a:ext cx="1074076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solidFill>
                    <a:srgbClr val="0432FF"/>
                  </a:solidFill>
                </a:rPr>
                <a:t>extrinsic </a:t>
              </a:r>
              <a:br>
                <a:rPr lang="en-US" dirty="0">
                  <a:solidFill>
                    <a:srgbClr val="0432FF"/>
                  </a:solidFill>
                </a:rPr>
              </a:br>
              <a:r>
                <a:rPr lang="en-US" dirty="0">
                  <a:solidFill>
                    <a:srgbClr val="0432FF"/>
                  </a:solidFill>
                </a:rPr>
                <a:t>model</a:t>
              </a:r>
            </a:p>
            <a:p>
              <a:pPr algn="ctr"/>
              <a:r>
                <a:rPr lang="en-US" dirty="0">
                  <a:solidFill>
                    <a:srgbClr val="0432FF"/>
                  </a:solidFill>
                </a:rPr>
                <a:t>a</a:t>
              </a:r>
              <a:endParaRPr lang="en-US" dirty="0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B92D487C-4723-5411-5F94-75DEABF3F3BB}"/>
                </a:ext>
              </a:extLst>
            </p:cNvPr>
            <p:cNvSpPr txBox="1"/>
            <p:nvPr/>
          </p:nvSpPr>
          <p:spPr>
            <a:xfrm>
              <a:off x="2408669" y="312145"/>
              <a:ext cx="38223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Influx after immunization or infection</a:t>
              </a:r>
            </a:p>
          </p:txBody>
        </p: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E1F36B5C-2CF8-335C-EF96-BA18DB7C9307}"/>
                </a:ext>
              </a:extLst>
            </p:cNvPr>
            <p:cNvCxnSpPr/>
            <p:nvPr/>
          </p:nvCxnSpPr>
          <p:spPr>
            <a:xfrm>
              <a:off x="2137833" y="1094730"/>
              <a:ext cx="3630" cy="408093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01765718-D709-9AB0-14EA-CE26AFC0B9A3}"/>
                </a:ext>
              </a:extLst>
            </p:cNvPr>
            <p:cNvCxnSpPr/>
            <p:nvPr/>
          </p:nvCxnSpPr>
          <p:spPr>
            <a:xfrm>
              <a:off x="4186523" y="1079595"/>
              <a:ext cx="3630" cy="408093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9C2CD1D2-E11F-2B86-71FA-8A1F8F688C1A}"/>
                </a:ext>
              </a:extLst>
            </p:cNvPr>
            <p:cNvCxnSpPr/>
            <p:nvPr/>
          </p:nvCxnSpPr>
          <p:spPr>
            <a:xfrm>
              <a:off x="6971209" y="1094730"/>
              <a:ext cx="3630" cy="408093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A30465A4-9A15-BA28-B94C-3D69CCFB89CE}"/>
                </a:ext>
              </a:extLst>
            </p:cNvPr>
            <p:cNvSpPr txBox="1"/>
            <p:nvPr/>
          </p:nvSpPr>
          <p:spPr>
            <a:xfrm>
              <a:off x="3408758" y="671503"/>
              <a:ext cx="17203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intrinsic model 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202311B0-661D-81CA-CA56-5B9348DE2CFC}"/>
                </a:ext>
              </a:extLst>
            </p:cNvPr>
            <p:cNvSpPr txBox="1"/>
            <p:nvPr/>
          </p:nvSpPr>
          <p:spPr>
            <a:xfrm>
              <a:off x="2137833" y="1040835"/>
              <a:ext cx="63976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a</a:t>
              </a:r>
              <a:r>
                <a:rPr lang="en-US" baseline="-25000" dirty="0">
                  <a:solidFill>
                    <a:srgbClr val="FF0000"/>
                  </a:solidFill>
                </a:rPr>
                <a:t>1</a:t>
              </a:r>
              <a:endParaRPr lang="en-US" dirty="0">
                <a:solidFill>
                  <a:srgbClr val="FF0000"/>
                </a:solidFill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AE7C1595-C11E-9F73-3F22-4E75922F98D3}"/>
                </a:ext>
              </a:extLst>
            </p:cNvPr>
            <p:cNvSpPr txBox="1"/>
            <p:nvPr/>
          </p:nvSpPr>
          <p:spPr>
            <a:xfrm>
              <a:off x="4220706" y="1060214"/>
              <a:ext cx="63976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a</a:t>
              </a:r>
              <a:r>
                <a:rPr lang="en-US" baseline="-25000" dirty="0">
                  <a:solidFill>
                    <a:srgbClr val="FF0000"/>
                  </a:solidFill>
                </a:rPr>
                <a:t>2</a:t>
              </a:r>
              <a:endParaRPr lang="en-US" dirty="0">
                <a:solidFill>
                  <a:srgbClr val="FF0000"/>
                </a:solidFill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42F4C33E-9383-511D-9957-FEB58CF06543}"/>
                </a:ext>
              </a:extLst>
            </p:cNvPr>
            <p:cNvSpPr txBox="1"/>
            <p:nvPr/>
          </p:nvSpPr>
          <p:spPr>
            <a:xfrm>
              <a:off x="6988185" y="1006036"/>
              <a:ext cx="63976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a</a:t>
              </a:r>
              <a:r>
                <a:rPr lang="en-US" baseline="-25000" dirty="0">
                  <a:solidFill>
                    <a:srgbClr val="FF0000"/>
                  </a:solidFill>
                </a:rPr>
                <a:t>n</a:t>
              </a:r>
              <a:endParaRPr lang="en-US" dirty="0">
                <a:solidFill>
                  <a:srgbClr val="FF0000"/>
                </a:solidFill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587E9B68-2D0F-C365-423E-907428225A39}"/>
                </a:ext>
              </a:extLst>
            </p:cNvPr>
            <p:cNvSpPr txBox="1"/>
            <p:nvPr/>
          </p:nvSpPr>
          <p:spPr>
            <a:xfrm>
              <a:off x="7589163" y="462633"/>
              <a:ext cx="1924501" cy="2308324"/>
            </a:xfrm>
            <a:prstGeom prst="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Homeostasis:</a:t>
              </a:r>
            </a:p>
            <a:p>
              <a:pPr algn="ctr"/>
              <a:r>
                <a:rPr lang="en-US" dirty="0"/>
                <a:t>d</a:t>
              </a:r>
              <a:r>
                <a:rPr lang="en-US" baseline="-25000" dirty="0"/>
                <a:t>i</a:t>
              </a:r>
              <a:r>
                <a:rPr lang="en-US" dirty="0"/>
                <a:t> = h</a:t>
              </a:r>
              <a:r>
                <a:rPr lang="en-US" baseline="-25000" dirty="0"/>
                <a:t>i</a:t>
              </a:r>
              <a:r>
                <a:rPr lang="en-US" dirty="0"/>
                <a:t>(x</a:t>
              </a:r>
              <a:r>
                <a:rPr lang="en-US" baseline="-25000" dirty="0"/>
                <a:t>1, … </a:t>
              </a:r>
              <a:r>
                <a:rPr lang="en-US" dirty="0" err="1"/>
                <a:t>x</a:t>
              </a:r>
              <a:r>
                <a:rPr lang="en-US" baseline="-25000" dirty="0" err="1"/>
                <a:t>n</a:t>
              </a:r>
              <a:r>
                <a:rPr lang="en-US" dirty="0"/>
                <a:t>)</a:t>
              </a:r>
            </a:p>
            <a:p>
              <a:pPr algn="ctr"/>
              <a:endParaRPr lang="en-US" dirty="0"/>
            </a:p>
            <a:p>
              <a:pPr algn="ctr"/>
              <a:r>
                <a:rPr lang="en-US" dirty="0"/>
                <a:t>Antibody</a:t>
              </a:r>
            </a:p>
            <a:p>
              <a:pPr algn="ctr"/>
              <a:r>
                <a:rPr lang="en-US" dirty="0" err="1"/>
                <a:t>dA</a:t>
              </a:r>
              <a:r>
                <a:rPr lang="en-US" dirty="0"/>
                <a:t>/dt = p </a:t>
              </a:r>
              <a:r>
                <a:rPr lang="el-GR" dirty="0"/>
                <a:t>Σ</a:t>
              </a:r>
              <a:r>
                <a:rPr lang="en-US" dirty="0"/>
                <a:t>x</a:t>
              </a:r>
              <a:r>
                <a:rPr lang="en-US" baseline="-25000" dirty="0"/>
                <a:t>i</a:t>
              </a:r>
              <a:r>
                <a:rPr lang="en-US" dirty="0"/>
                <a:t> – </a:t>
              </a:r>
              <a:r>
                <a:rPr lang="en-US" dirty="0" err="1"/>
                <a:t>d</a:t>
              </a:r>
              <a:r>
                <a:rPr lang="en-US" baseline="-25000" dirty="0" err="1"/>
                <a:t>A</a:t>
              </a:r>
              <a:r>
                <a:rPr lang="en-US" dirty="0" err="1"/>
                <a:t>A</a:t>
              </a:r>
              <a:endParaRPr lang="en-US" dirty="0"/>
            </a:p>
            <a:p>
              <a:pPr algn="ctr"/>
              <a:endParaRPr lang="en-US" dirty="0"/>
            </a:p>
            <a:p>
              <a:pPr algn="ctr"/>
              <a:r>
                <a:rPr lang="en-US" dirty="0"/>
                <a:t>Death rates</a:t>
              </a:r>
            </a:p>
            <a:p>
              <a:pPr algn="ctr"/>
              <a:r>
                <a:rPr lang="en-US" dirty="0"/>
                <a:t>d</a:t>
              </a:r>
              <a:r>
                <a:rPr lang="en-US" baseline="-25000" dirty="0"/>
                <a:t>1</a:t>
              </a:r>
              <a:r>
                <a:rPr lang="en-US" dirty="0"/>
                <a:t>&gt;d</a:t>
              </a:r>
              <a:r>
                <a:rPr lang="en-US" baseline="-25000" dirty="0"/>
                <a:t>2</a:t>
              </a:r>
              <a:r>
                <a:rPr lang="en-US" dirty="0"/>
                <a:t>&gt;…&gt;</a:t>
              </a:r>
              <a:r>
                <a:rPr lang="en-US" dirty="0" err="1"/>
                <a:t>d</a:t>
              </a:r>
              <a:r>
                <a:rPr lang="en-US" baseline="-25000" dirty="0" err="1"/>
                <a:t>n</a:t>
              </a:r>
              <a:endParaRPr lang="en-US" dirty="0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099D2B3D-8D33-FB1F-450C-4C39831B7FAA}"/>
                </a:ext>
              </a:extLst>
            </p:cNvPr>
            <p:cNvSpPr txBox="1"/>
            <p:nvPr/>
          </p:nvSpPr>
          <p:spPr>
            <a:xfrm>
              <a:off x="2947970" y="1472729"/>
              <a:ext cx="63976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432FF"/>
                  </a:solidFill>
                </a:rPr>
                <a:t>f</a:t>
              </a:r>
              <a:r>
                <a:rPr lang="en-US" baseline="-25000" dirty="0">
                  <a:solidFill>
                    <a:srgbClr val="0432FF"/>
                  </a:solidFill>
                </a:rPr>
                <a:t>1</a:t>
              </a:r>
              <a:endParaRPr lang="en-US" dirty="0">
                <a:solidFill>
                  <a:srgbClr val="0432FF"/>
                </a:solidFill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8C6FCC22-ADB9-5C78-7B03-08F97D4D5817}"/>
                </a:ext>
              </a:extLst>
            </p:cNvPr>
            <p:cNvSpPr txBox="1"/>
            <p:nvPr/>
          </p:nvSpPr>
          <p:spPr>
            <a:xfrm>
              <a:off x="2927366" y="1988066"/>
              <a:ext cx="63976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432FF"/>
                  </a:solidFill>
                </a:rPr>
                <a:t>b</a:t>
              </a:r>
              <a:r>
                <a:rPr lang="en-US" baseline="-25000" dirty="0">
                  <a:solidFill>
                    <a:srgbClr val="0432FF"/>
                  </a:solidFill>
                </a:rPr>
                <a:t>1</a:t>
              </a:r>
              <a:endParaRPr lang="en-US" dirty="0">
                <a:solidFill>
                  <a:srgbClr val="0432FF"/>
                </a:solidFill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D6261CB1-BAAF-240E-62BC-13B0C7A8EFB6}"/>
                </a:ext>
              </a:extLst>
            </p:cNvPr>
            <p:cNvSpPr txBox="1"/>
            <p:nvPr/>
          </p:nvSpPr>
          <p:spPr>
            <a:xfrm>
              <a:off x="5894595" y="1485431"/>
              <a:ext cx="63976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432FF"/>
                  </a:solidFill>
                </a:rPr>
                <a:t>f</a:t>
              </a:r>
              <a:r>
                <a:rPr lang="en-US" baseline="-25000" dirty="0">
                  <a:solidFill>
                    <a:srgbClr val="0432FF"/>
                  </a:solidFill>
                </a:rPr>
                <a:t>n-1</a:t>
              </a:r>
              <a:endParaRPr lang="en-US" dirty="0">
                <a:solidFill>
                  <a:srgbClr val="0432FF"/>
                </a:solidFill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83DFD4EB-C62A-7B07-3514-20FDC04DF0E0}"/>
                </a:ext>
              </a:extLst>
            </p:cNvPr>
            <p:cNvSpPr txBox="1"/>
            <p:nvPr/>
          </p:nvSpPr>
          <p:spPr>
            <a:xfrm>
              <a:off x="5884151" y="2000768"/>
              <a:ext cx="63976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432FF"/>
                  </a:solidFill>
                </a:rPr>
                <a:t>b</a:t>
              </a:r>
              <a:r>
                <a:rPr lang="en-US" baseline="-25000" dirty="0">
                  <a:solidFill>
                    <a:srgbClr val="0432FF"/>
                  </a:solidFill>
                </a:rPr>
                <a:t>n-1</a:t>
              </a:r>
              <a:endParaRPr lang="en-US" dirty="0">
                <a:solidFill>
                  <a:srgbClr val="0432FF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918852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Group 61">
            <a:extLst>
              <a:ext uri="{FF2B5EF4-FFF2-40B4-BE49-F238E27FC236}">
                <a16:creationId xmlns:a16="http://schemas.microsoft.com/office/drawing/2014/main" id="{F75F9B5E-4ED8-3F4B-D781-5A2AD4A5D1D1}"/>
              </a:ext>
            </a:extLst>
          </p:cNvPr>
          <p:cNvGrpSpPr/>
          <p:nvPr/>
        </p:nvGrpSpPr>
        <p:grpSpPr>
          <a:xfrm>
            <a:off x="266539" y="0"/>
            <a:ext cx="10482149" cy="4376945"/>
            <a:chOff x="266539" y="0"/>
            <a:chExt cx="10482149" cy="4376945"/>
          </a:xfrm>
        </p:grpSpPr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A4C87AD7-A457-180E-9CFC-2FB5803383C1}"/>
                </a:ext>
              </a:extLst>
            </p:cNvPr>
            <p:cNvSpPr txBox="1"/>
            <p:nvPr/>
          </p:nvSpPr>
          <p:spPr>
            <a:xfrm>
              <a:off x="9485457" y="1958864"/>
              <a:ext cx="1263231" cy="7386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</a:rPr>
                <a:t>death follows </a:t>
              </a:r>
            </a:p>
            <a:p>
              <a:r>
                <a:rPr lang="en-US" sz="1400" dirty="0">
                  <a:solidFill>
                    <a:srgbClr val="FF0000"/>
                  </a:solidFill>
                </a:rPr>
                <a:t>Power Law </a:t>
              </a:r>
              <a:br>
                <a:rPr lang="en-US" sz="1400" dirty="0">
                  <a:solidFill>
                    <a:srgbClr val="FF0000"/>
                  </a:solidFill>
                </a:rPr>
              </a:br>
              <a:r>
                <a:rPr lang="en-US" sz="1400" dirty="0">
                  <a:solidFill>
                    <a:srgbClr val="FF0000"/>
                  </a:solidFill>
                </a:rPr>
                <a:t>m</a:t>
              </a:r>
              <a:r>
                <a:rPr lang="en-US" sz="1400" baseline="-25000" dirty="0">
                  <a:solidFill>
                    <a:srgbClr val="FF0000"/>
                  </a:solidFill>
                </a:rPr>
                <a:t>b</a:t>
              </a:r>
              <a:r>
                <a:rPr lang="en-US" sz="1400" dirty="0">
                  <a:solidFill>
                    <a:srgbClr val="FF0000"/>
                  </a:solidFill>
                </a:rPr>
                <a:t> (boost)</a:t>
              </a:r>
            </a:p>
          </p:txBody>
        </p: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D3FE0473-9AB0-BF8A-897D-E09A78CCC442}"/>
                </a:ext>
              </a:extLst>
            </p:cNvPr>
            <p:cNvGrpSpPr/>
            <p:nvPr/>
          </p:nvGrpSpPr>
          <p:grpSpPr>
            <a:xfrm>
              <a:off x="266539" y="0"/>
              <a:ext cx="9484098" cy="4376945"/>
              <a:chOff x="169720" y="2124740"/>
              <a:chExt cx="9484098" cy="4376945"/>
            </a:xfrm>
          </p:grpSpPr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177A0027-7835-3BDD-1216-4AB86754D62D}"/>
                  </a:ext>
                </a:extLst>
              </p:cNvPr>
              <p:cNvGrpSpPr/>
              <p:nvPr/>
            </p:nvGrpSpPr>
            <p:grpSpPr>
              <a:xfrm>
                <a:off x="535526" y="2124740"/>
                <a:ext cx="6148155" cy="3845117"/>
                <a:chOff x="6044310" y="-614837"/>
                <a:chExt cx="6148155" cy="3845117"/>
              </a:xfrm>
            </p:grpSpPr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9D537C55-40BA-9618-3AC9-3D6117F69A70}"/>
                    </a:ext>
                  </a:extLst>
                </p:cNvPr>
                <p:cNvSpPr txBox="1"/>
                <p:nvPr/>
              </p:nvSpPr>
              <p:spPr>
                <a:xfrm>
                  <a:off x="6044310" y="1332964"/>
                  <a:ext cx="964593" cy="646331"/>
                </a:xfrm>
                <a:prstGeom prst="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/>
                    <a:t>Naïve</a:t>
                  </a:r>
                </a:p>
                <a:p>
                  <a:pPr algn="ctr"/>
                  <a:r>
                    <a:rPr lang="en-US" dirty="0"/>
                    <a:t>B cell</a:t>
                  </a:r>
                </a:p>
              </p:txBody>
            </p:sp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26CD4A79-33B9-118E-B976-A4327F5190F6}"/>
                    </a:ext>
                  </a:extLst>
                </p:cNvPr>
                <p:cNvSpPr txBox="1"/>
                <p:nvPr/>
              </p:nvSpPr>
              <p:spPr>
                <a:xfrm>
                  <a:off x="7674635" y="1332963"/>
                  <a:ext cx="964593" cy="646331"/>
                </a:xfrm>
                <a:prstGeom prst="rect">
                  <a:avLst/>
                </a:prstGeom>
                <a:ln>
                  <a:solidFill>
                    <a:srgbClr val="0432FF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>
                      <a:solidFill>
                        <a:srgbClr val="0432FF"/>
                      </a:solidFill>
                    </a:rPr>
                    <a:t>Prolif.  GC</a:t>
                  </a:r>
                </a:p>
              </p:txBody>
            </p: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FC7BC40E-4E88-01BF-4827-328574D188AA}"/>
                    </a:ext>
                  </a:extLst>
                </p:cNvPr>
                <p:cNvSpPr txBox="1"/>
                <p:nvPr/>
              </p:nvSpPr>
              <p:spPr>
                <a:xfrm>
                  <a:off x="9575660" y="364916"/>
                  <a:ext cx="964593" cy="1200329"/>
                </a:xfrm>
                <a:prstGeom prst="rect">
                  <a:avLst/>
                </a:prstGeom>
                <a:ln>
                  <a:solidFill>
                    <a:srgbClr val="0432FF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>
                      <a:solidFill>
                        <a:srgbClr val="0432FF"/>
                      </a:solidFill>
                    </a:rPr>
                    <a:t>Long-lived PC from 1°</a:t>
                  </a:r>
                </a:p>
              </p:txBody>
            </p:sp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0AEE4FBF-AB25-E4B0-FF37-F513661B6CBB}"/>
                    </a:ext>
                  </a:extLst>
                </p:cNvPr>
                <p:cNvSpPr txBox="1"/>
                <p:nvPr/>
              </p:nvSpPr>
              <p:spPr>
                <a:xfrm>
                  <a:off x="9501903" y="1979294"/>
                  <a:ext cx="1051857" cy="923330"/>
                </a:xfrm>
                <a:prstGeom prst="rect">
                  <a:avLst/>
                </a:prstGeom>
                <a:ln>
                  <a:solidFill>
                    <a:srgbClr val="0432FF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>
                      <a:solidFill>
                        <a:srgbClr val="0432FF"/>
                      </a:solidFill>
                    </a:rPr>
                    <a:t>Long lived MBC</a:t>
                  </a:r>
                </a:p>
              </p:txBody>
            </p:sp>
            <p:cxnSp>
              <p:nvCxnSpPr>
                <p:cNvPr id="26" name="Straight Arrow Connector 25">
                  <a:extLst>
                    <a:ext uri="{FF2B5EF4-FFF2-40B4-BE49-F238E27FC236}">
                      <a16:creationId xmlns:a16="http://schemas.microsoft.com/office/drawing/2014/main" id="{530C87BD-8F12-C45E-5E89-B0F903F56410}"/>
                    </a:ext>
                  </a:extLst>
                </p:cNvPr>
                <p:cNvCxnSpPr>
                  <a:stCxn id="22" idx="3"/>
                  <a:endCxn id="23" idx="1"/>
                </p:cNvCxnSpPr>
                <p:nvPr/>
              </p:nvCxnSpPr>
              <p:spPr>
                <a:xfrm flipV="1">
                  <a:off x="7008903" y="1656129"/>
                  <a:ext cx="665732" cy="1"/>
                </a:xfrm>
                <a:prstGeom prst="straightConnector1">
                  <a:avLst/>
                </a:prstGeom>
                <a:ln w="25400">
                  <a:solidFill>
                    <a:srgbClr val="0432FF"/>
                  </a:solidFill>
                  <a:tailEnd type="triangle" w="lg" len="lg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Arrow Connector 26">
                  <a:extLst>
                    <a:ext uri="{FF2B5EF4-FFF2-40B4-BE49-F238E27FC236}">
                      <a16:creationId xmlns:a16="http://schemas.microsoft.com/office/drawing/2014/main" id="{4B46292E-B8CD-1828-7F80-A6028F869D3D}"/>
                    </a:ext>
                  </a:extLst>
                </p:cNvPr>
                <p:cNvCxnSpPr>
                  <a:cxnSpLocks/>
                  <a:endCxn id="24" idx="1"/>
                </p:cNvCxnSpPr>
                <p:nvPr/>
              </p:nvCxnSpPr>
              <p:spPr>
                <a:xfrm flipV="1">
                  <a:off x="8639228" y="965081"/>
                  <a:ext cx="936432" cy="365597"/>
                </a:xfrm>
                <a:prstGeom prst="straightConnector1">
                  <a:avLst/>
                </a:prstGeom>
                <a:ln w="25400">
                  <a:solidFill>
                    <a:srgbClr val="0432FF"/>
                  </a:solidFill>
                  <a:tailEnd type="triangle" w="lg" len="lg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Straight Arrow Connector 27">
                  <a:extLst>
                    <a:ext uri="{FF2B5EF4-FFF2-40B4-BE49-F238E27FC236}">
                      <a16:creationId xmlns:a16="http://schemas.microsoft.com/office/drawing/2014/main" id="{75849639-B69C-19DC-45C9-5BD498B213B8}"/>
                    </a:ext>
                  </a:extLst>
                </p:cNvPr>
                <p:cNvCxnSpPr>
                  <a:cxnSpLocks/>
                  <a:endCxn id="25" idx="1"/>
                </p:cNvCxnSpPr>
                <p:nvPr/>
              </p:nvCxnSpPr>
              <p:spPr>
                <a:xfrm>
                  <a:off x="8639228" y="1979294"/>
                  <a:ext cx="862675" cy="461665"/>
                </a:xfrm>
                <a:prstGeom prst="straightConnector1">
                  <a:avLst/>
                </a:prstGeom>
                <a:ln w="25400">
                  <a:solidFill>
                    <a:srgbClr val="0432FF"/>
                  </a:solidFill>
                  <a:tailEnd type="triangle" w="lg" len="lg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29" name="Freeform 28">
                  <a:extLst>
                    <a:ext uri="{FF2B5EF4-FFF2-40B4-BE49-F238E27FC236}">
                      <a16:creationId xmlns:a16="http://schemas.microsoft.com/office/drawing/2014/main" id="{B0998AEB-F4FA-647A-F575-3AFDD0F0472C}"/>
                    </a:ext>
                  </a:extLst>
                </p:cNvPr>
                <p:cNvSpPr/>
                <p:nvPr/>
              </p:nvSpPr>
              <p:spPr>
                <a:xfrm>
                  <a:off x="7885721" y="777488"/>
                  <a:ext cx="586458" cy="541551"/>
                </a:xfrm>
                <a:custGeom>
                  <a:avLst/>
                  <a:gdLst>
                    <a:gd name="connsiteX0" fmla="*/ 335294 w 586458"/>
                    <a:gd name="connsiteY0" fmla="*/ 541551 h 541551"/>
                    <a:gd name="connsiteX1" fmla="*/ 586432 w 586458"/>
                    <a:gd name="connsiteY1" fmla="*/ 303292 h 541551"/>
                    <a:gd name="connsiteX2" fmla="*/ 322415 w 586458"/>
                    <a:gd name="connsiteY2" fmla="*/ 639 h 541551"/>
                    <a:gd name="connsiteX3" fmla="*/ 6883 w 586458"/>
                    <a:gd name="connsiteY3" fmla="*/ 232458 h 541551"/>
                    <a:gd name="connsiteX4" fmla="*/ 135672 w 586458"/>
                    <a:gd name="connsiteY4" fmla="*/ 535112 h 5415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86458" h="541551">
                      <a:moveTo>
                        <a:pt x="335294" y="541551"/>
                      </a:moveTo>
                      <a:cubicBezTo>
                        <a:pt x="461936" y="467497"/>
                        <a:pt x="588578" y="393444"/>
                        <a:pt x="586432" y="303292"/>
                      </a:cubicBezTo>
                      <a:cubicBezTo>
                        <a:pt x="584286" y="213140"/>
                        <a:pt x="419006" y="12445"/>
                        <a:pt x="322415" y="639"/>
                      </a:cubicBezTo>
                      <a:cubicBezTo>
                        <a:pt x="225824" y="-11167"/>
                        <a:pt x="38007" y="143379"/>
                        <a:pt x="6883" y="232458"/>
                      </a:cubicBezTo>
                      <a:cubicBezTo>
                        <a:pt x="-24241" y="321537"/>
                        <a:pt x="55715" y="428324"/>
                        <a:pt x="135672" y="535112"/>
                      </a:cubicBezTo>
                    </a:path>
                  </a:pathLst>
                </a:custGeom>
                <a:noFill/>
                <a:ln>
                  <a:solidFill>
                    <a:srgbClr val="0432FF"/>
                  </a:solidFill>
                  <a:tailEnd type="triangle" w="lg" len="lg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33" name="Straight Arrow Connector 32">
                  <a:extLst>
                    <a:ext uri="{FF2B5EF4-FFF2-40B4-BE49-F238E27FC236}">
                      <a16:creationId xmlns:a16="http://schemas.microsoft.com/office/drawing/2014/main" id="{08EB28DC-7618-689A-3AE6-D1CA5CD1A78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570526" y="893898"/>
                  <a:ext cx="377939" cy="0"/>
                </a:xfrm>
                <a:prstGeom prst="straightConnector1">
                  <a:avLst/>
                </a:prstGeom>
                <a:ln w="12700"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Straight Arrow Connector 34">
                  <a:extLst>
                    <a:ext uri="{FF2B5EF4-FFF2-40B4-BE49-F238E27FC236}">
                      <a16:creationId xmlns:a16="http://schemas.microsoft.com/office/drawing/2014/main" id="{805433A1-7736-DD2D-69C1-D13BD2575BC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>
                  <a:off x="9867690" y="63963"/>
                  <a:ext cx="431615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EECD08FF-9B73-7AFE-1530-53791369D362}"/>
                    </a:ext>
                  </a:extLst>
                </p:cNvPr>
                <p:cNvSpPr txBox="1"/>
                <p:nvPr/>
              </p:nvSpPr>
              <p:spPr>
                <a:xfrm>
                  <a:off x="10085966" y="-614837"/>
                  <a:ext cx="1161240" cy="92333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b="1" dirty="0">
                      <a:solidFill>
                        <a:srgbClr val="0432FF"/>
                      </a:solidFill>
                    </a:rPr>
                    <a:t>Secreted antibody</a:t>
                  </a:r>
                </a:p>
                <a:p>
                  <a:r>
                    <a:rPr lang="en-US" b="1" dirty="0">
                      <a:solidFill>
                        <a:srgbClr val="0432FF"/>
                      </a:solidFill>
                    </a:rPr>
                    <a:t>(T</a:t>
                  </a:r>
                  <a:r>
                    <a:rPr lang="en-US" b="1" baseline="-25000" dirty="0">
                      <a:solidFill>
                        <a:srgbClr val="0432FF"/>
                      </a:solidFill>
                    </a:rPr>
                    <a:t>1/2</a:t>
                  </a:r>
                  <a:r>
                    <a:rPr lang="en-US" b="1" dirty="0">
                      <a:solidFill>
                        <a:srgbClr val="0432FF"/>
                      </a:solidFill>
                    </a:rPr>
                    <a:t>~21d)</a:t>
                  </a:r>
                </a:p>
              </p:txBody>
            </p:sp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DC297014-021B-9139-0527-C121D3EDA59E}"/>
                    </a:ext>
                  </a:extLst>
                </p:cNvPr>
                <p:cNvSpPr txBox="1"/>
                <p:nvPr/>
              </p:nvSpPr>
              <p:spPr>
                <a:xfrm>
                  <a:off x="10929234" y="646130"/>
                  <a:ext cx="1263231" cy="73866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solidFill>
                        <a:srgbClr val="0432FF"/>
                      </a:solidFill>
                    </a:rPr>
                    <a:t>death follows </a:t>
                  </a:r>
                </a:p>
                <a:p>
                  <a:r>
                    <a:rPr lang="en-US" sz="1400" dirty="0">
                      <a:solidFill>
                        <a:srgbClr val="0432FF"/>
                      </a:solidFill>
                    </a:rPr>
                    <a:t>Power Law </a:t>
                  </a:r>
                  <a:br>
                    <a:rPr lang="en-US" sz="1400" dirty="0">
                      <a:solidFill>
                        <a:srgbClr val="0432FF"/>
                      </a:solidFill>
                    </a:rPr>
                  </a:br>
                  <a:r>
                    <a:rPr lang="en-US" sz="1400" dirty="0">
                      <a:solidFill>
                        <a:srgbClr val="0432FF"/>
                      </a:solidFill>
                    </a:rPr>
                    <a:t>m</a:t>
                  </a:r>
                  <a:r>
                    <a:rPr lang="en-US" sz="1400" baseline="-25000" dirty="0">
                      <a:solidFill>
                        <a:srgbClr val="0432FF"/>
                      </a:solidFill>
                    </a:rPr>
                    <a:t>p</a:t>
                  </a:r>
                  <a:r>
                    <a:rPr lang="en-US" sz="1400" dirty="0">
                      <a:solidFill>
                        <a:srgbClr val="0432FF"/>
                      </a:solidFill>
                    </a:rPr>
                    <a:t> (prime)</a:t>
                  </a:r>
                </a:p>
              </p:txBody>
            </p:sp>
            <p:cxnSp>
              <p:nvCxnSpPr>
                <p:cNvPr id="38" name="Straight Arrow Connector 37">
                  <a:extLst>
                    <a:ext uri="{FF2B5EF4-FFF2-40B4-BE49-F238E27FC236}">
                      <a16:creationId xmlns:a16="http://schemas.microsoft.com/office/drawing/2014/main" id="{B3380312-C704-B15E-0829-1A24C1AD04D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V="1">
                  <a:off x="9955543" y="3061718"/>
                  <a:ext cx="255908" cy="0"/>
                </a:xfrm>
                <a:prstGeom prst="straightConnector1">
                  <a:avLst/>
                </a:prstGeom>
                <a:ln w="12700"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15514CCA-743F-FC7E-C2F9-690E989EF4BB}"/>
                    </a:ext>
                  </a:extLst>
                </p:cNvPr>
                <p:cNvSpPr txBox="1"/>
                <p:nvPr/>
              </p:nvSpPr>
              <p:spPr>
                <a:xfrm>
                  <a:off x="10127592" y="2922503"/>
                  <a:ext cx="631904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solidFill>
                        <a:srgbClr val="0432FF"/>
                      </a:solidFill>
                    </a:rPr>
                    <a:t>death</a:t>
                  </a:r>
                </a:p>
              </p:txBody>
            </p:sp>
          </p:grp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6878A1A-532C-1783-5A1B-39FCC1A4D753}"/>
                  </a:ext>
                </a:extLst>
              </p:cNvPr>
              <p:cNvSpPr txBox="1"/>
              <p:nvPr/>
            </p:nvSpPr>
            <p:spPr>
              <a:xfrm>
                <a:off x="169720" y="3443084"/>
                <a:ext cx="36580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A</a:t>
                </a:r>
              </a:p>
            </p:txBody>
          </p:sp>
          <p:cxnSp>
            <p:nvCxnSpPr>
              <p:cNvPr id="42" name="Straight Arrow Connector 41">
                <a:extLst>
                  <a:ext uri="{FF2B5EF4-FFF2-40B4-BE49-F238E27FC236}">
                    <a16:creationId xmlns:a16="http://schemas.microsoft.com/office/drawing/2014/main" id="{DEA38AD9-517B-2436-B9E1-25CD50F2C1F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95744" y="5180536"/>
                <a:ext cx="1000256" cy="0"/>
              </a:xfrm>
              <a:prstGeom prst="straightConnector1">
                <a:avLst/>
              </a:prstGeom>
              <a:ln w="25400">
                <a:solidFill>
                  <a:srgbClr val="FF0000"/>
                </a:solidFill>
                <a:tailEnd type="triangle" w="lg" len="lg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A1F1BF4C-E140-B6AA-A0BD-887792254599}"/>
                  </a:ext>
                </a:extLst>
              </p:cNvPr>
              <p:cNvSpPr txBox="1"/>
              <p:nvPr/>
            </p:nvSpPr>
            <p:spPr>
              <a:xfrm>
                <a:off x="6134950" y="4860297"/>
                <a:ext cx="964593" cy="646331"/>
              </a:xfrm>
              <a:prstGeom prst="rect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F0000"/>
                    </a:solidFill>
                  </a:rPr>
                  <a:t>Prolif.  GC</a:t>
                </a:r>
              </a:p>
            </p:txBody>
          </p:sp>
          <p:sp>
            <p:nvSpPr>
              <p:cNvPr id="45" name="Freeform 44">
                <a:extLst>
                  <a:ext uri="{FF2B5EF4-FFF2-40B4-BE49-F238E27FC236}">
                    <a16:creationId xmlns:a16="http://schemas.microsoft.com/office/drawing/2014/main" id="{2B8CFB45-DD6E-8BC4-D908-6810253DED2F}"/>
                  </a:ext>
                </a:extLst>
              </p:cNvPr>
              <p:cNvSpPr/>
              <p:nvPr/>
            </p:nvSpPr>
            <p:spPr>
              <a:xfrm>
                <a:off x="6346036" y="4304822"/>
                <a:ext cx="586458" cy="541551"/>
              </a:xfrm>
              <a:custGeom>
                <a:avLst/>
                <a:gdLst>
                  <a:gd name="connsiteX0" fmla="*/ 335294 w 586458"/>
                  <a:gd name="connsiteY0" fmla="*/ 541551 h 541551"/>
                  <a:gd name="connsiteX1" fmla="*/ 586432 w 586458"/>
                  <a:gd name="connsiteY1" fmla="*/ 303292 h 541551"/>
                  <a:gd name="connsiteX2" fmla="*/ 322415 w 586458"/>
                  <a:gd name="connsiteY2" fmla="*/ 639 h 541551"/>
                  <a:gd name="connsiteX3" fmla="*/ 6883 w 586458"/>
                  <a:gd name="connsiteY3" fmla="*/ 232458 h 541551"/>
                  <a:gd name="connsiteX4" fmla="*/ 135672 w 586458"/>
                  <a:gd name="connsiteY4" fmla="*/ 535112 h 5415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6458" h="541551">
                    <a:moveTo>
                      <a:pt x="335294" y="541551"/>
                    </a:moveTo>
                    <a:cubicBezTo>
                      <a:pt x="461936" y="467497"/>
                      <a:pt x="588578" y="393444"/>
                      <a:pt x="586432" y="303292"/>
                    </a:cubicBezTo>
                    <a:cubicBezTo>
                      <a:pt x="584286" y="213140"/>
                      <a:pt x="419006" y="12445"/>
                      <a:pt x="322415" y="639"/>
                    </a:cubicBezTo>
                    <a:cubicBezTo>
                      <a:pt x="225824" y="-11167"/>
                      <a:pt x="38007" y="143379"/>
                      <a:pt x="6883" y="232458"/>
                    </a:cubicBezTo>
                    <a:cubicBezTo>
                      <a:pt x="-24241" y="321537"/>
                      <a:pt x="55715" y="428324"/>
                      <a:pt x="135672" y="535112"/>
                    </a:cubicBezTo>
                  </a:path>
                </a:pathLst>
              </a:custGeom>
              <a:noFill/>
              <a:ln>
                <a:solidFill>
                  <a:srgbClr val="FF0000"/>
                </a:solidFill>
                <a:tailEnd type="triangle" w="lg" len="lg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7" name="Straight Arrow Connector 46">
                <a:extLst>
                  <a:ext uri="{FF2B5EF4-FFF2-40B4-BE49-F238E27FC236}">
                    <a16:creationId xmlns:a16="http://schemas.microsoft.com/office/drawing/2014/main" id="{DF1DA59F-E22C-A77B-894F-C99A4B67D80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099543" y="4448840"/>
                <a:ext cx="868138" cy="411457"/>
              </a:xfrm>
              <a:prstGeom prst="straightConnector1">
                <a:avLst/>
              </a:prstGeom>
              <a:ln w="25400">
                <a:solidFill>
                  <a:srgbClr val="FF0000"/>
                </a:solidFill>
                <a:tailEnd type="triangle" w="lg" len="lg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1AA74DBA-0FA7-3E0F-82A1-D08C52786357}"/>
                  </a:ext>
                </a:extLst>
              </p:cNvPr>
              <p:cNvSpPr txBox="1"/>
              <p:nvPr/>
            </p:nvSpPr>
            <p:spPr>
              <a:xfrm>
                <a:off x="7984741" y="3746089"/>
                <a:ext cx="964593" cy="1200329"/>
              </a:xfrm>
              <a:prstGeom prst="rect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F0000"/>
                    </a:solidFill>
                  </a:rPr>
                  <a:t>Long-lived PC from 2°</a:t>
                </a:r>
              </a:p>
            </p:txBody>
          </p:sp>
          <p:cxnSp>
            <p:nvCxnSpPr>
              <p:cNvPr id="49" name="Straight Arrow Connector 48">
                <a:extLst>
                  <a:ext uri="{FF2B5EF4-FFF2-40B4-BE49-F238E27FC236}">
                    <a16:creationId xmlns:a16="http://schemas.microsoft.com/office/drawing/2014/main" id="{7FDFE455-808C-0313-816D-67A1BCDA1F20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8276771" y="3445136"/>
                <a:ext cx="431615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D071BB65-3FEE-84CC-DE89-43A2B39D848A}"/>
                  </a:ext>
                </a:extLst>
              </p:cNvPr>
              <p:cNvSpPr txBox="1"/>
              <p:nvPr/>
            </p:nvSpPr>
            <p:spPr>
              <a:xfrm>
                <a:off x="8492578" y="2690850"/>
                <a:ext cx="1161240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solidFill>
                      <a:srgbClr val="FF0000"/>
                    </a:solidFill>
                  </a:rPr>
                  <a:t>Secreted antibody</a:t>
                </a:r>
              </a:p>
              <a:p>
                <a:r>
                  <a:rPr lang="en-US" b="1" dirty="0">
                    <a:solidFill>
                      <a:srgbClr val="FF0000"/>
                    </a:solidFill>
                  </a:rPr>
                  <a:t>(T</a:t>
                </a:r>
                <a:r>
                  <a:rPr lang="en-US" b="1" baseline="-25000" dirty="0">
                    <a:solidFill>
                      <a:srgbClr val="FF0000"/>
                    </a:solidFill>
                  </a:rPr>
                  <a:t>1/2</a:t>
                </a:r>
                <a:r>
                  <a:rPr lang="en-US" b="1" dirty="0">
                    <a:solidFill>
                      <a:srgbClr val="FF0000"/>
                    </a:solidFill>
                  </a:rPr>
                  <a:t>~21d)</a:t>
                </a:r>
              </a:p>
            </p:txBody>
          </p:sp>
          <p:cxnSp>
            <p:nvCxnSpPr>
              <p:cNvPr id="51" name="Straight Arrow Connector 50">
                <a:extLst>
                  <a:ext uri="{FF2B5EF4-FFF2-40B4-BE49-F238E27FC236}">
                    <a16:creationId xmlns:a16="http://schemas.microsoft.com/office/drawing/2014/main" id="{C807CE8A-692C-058C-6588-558B69255D3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010699" y="4352843"/>
                <a:ext cx="377939" cy="0"/>
              </a:xfrm>
              <a:prstGeom prst="straightConnector1">
                <a:avLst/>
              </a:prstGeom>
              <a:ln w="12700"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Arrow Connector 53">
                <a:extLst>
                  <a:ext uri="{FF2B5EF4-FFF2-40B4-BE49-F238E27FC236}">
                    <a16:creationId xmlns:a16="http://schemas.microsoft.com/office/drawing/2014/main" id="{BA595EE3-F627-13E2-38BD-58D33BACC908}"/>
                  </a:ext>
                </a:extLst>
              </p:cNvPr>
              <p:cNvCxnSpPr/>
              <p:nvPr/>
            </p:nvCxnSpPr>
            <p:spPr>
              <a:xfrm flipV="1">
                <a:off x="1742739" y="4523639"/>
                <a:ext cx="0" cy="82696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Arrow Connector 54">
                <a:extLst>
                  <a:ext uri="{FF2B5EF4-FFF2-40B4-BE49-F238E27FC236}">
                    <a16:creationId xmlns:a16="http://schemas.microsoft.com/office/drawing/2014/main" id="{FA5CDEC5-802D-C38C-6F88-5A1BDCB335CA}"/>
                  </a:ext>
                </a:extLst>
              </p:cNvPr>
              <p:cNvCxnSpPr/>
              <p:nvPr/>
            </p:nvCxnSpPr>
            <p:spPr>
              <a:xfrm flipV="1">
                <a:off x="5738422" y="5330461"/>
                <a:ext cx="0" cy="82696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5426F77D-DDA3-4DB7-FC05-931A04C71E7C}"/>
                  </a:ext>
                </a:extLst>
              </p:cNvPr>
              <p:cNvSpPr txBox="1"/>
              <p:nvPr/>
            </p:nvSpPr>
            <p:spPr>
              <a:xfrm>
                <a:off x="1571780" y="5421849"/>
                <a:ext cx="144418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solidFill>
                      <a:srgbClr val="0432FF"/>
                    </a:solidFill>
                  </a:rPr>
                  <a:t>1° infection </a:t>
                </a:r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32AAB7AE-4A7E-015A-21B6-051F7972F3B3}"/>
                  </a:ext>
                </a:extLst>
              </p:cNvPr>
              <p:cNvSpPr txBox="1"/>
              <p:nvPr/>
            </p:nvSpPr>
            <p:spPr>
              <a:xfrm>
                <a:off x="5554329" y="6132353"/>
                <a:ext cx="137816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solidFill>
                      <a:srgbClr val="FF0000"/>
                    </a:solidFill>
                  </a:rPr>
                  <a:t>2° infection </a:t>
                </a:r>
              </a:p>
            </p:txBody>
          </p:sp>
        </p:grp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196A9E08-F309-BACD-3A60-CD28F928951A}"/>
              </a:ext>
            </a:extLst>
          </p:cNvPr>
          <p:cNvSpPr txBox="1"/>
          <p:nvPr/>
        </p:nvSpPr>
        <p:spPr>
          <a:xfrm>
            <a:off x="8064500" y="3383452"/>
            <a:ext cx="1051857" cy="92333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Long lived MBC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3E7C8D49-AFA5-2DAD-1F6E-791494F054D1}"/>
              </a:ext>
            </a:extLst>
          </p:cNvPr>
          <p:cNvCxnSpPr>
            <a:cxnSpLocks/>
            <a:endCxn id="4" idx="1"/>
          </p:cNvCxnSpPr>
          <p:nvPr/>
        </p:nvCxnSpPr>
        <p:spPr>
          <a:xfrm>
            <a:off x="7201825" y="3383452"/>
            <a:ext cx="862675" cy="461665"/>
          </a:xfrm>
          <a:prstGeom prst="straightConnector1">
            <a:avLst/>
          </a:prstGeom>
          <a:ln w="25400">
            <a:solidFill>
              <a:srgbClr val="FF0000"/>
            </a:solidFill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CA2C064-4013-3CB0-51A8-9DB4B19D7A7F}"/>
              </a:ext>
            </a:extLst>
          </p:cNvPr>
          <p:cNvCxnSpPr>
            <a:cxnSpLocks/>
          </p:cNvCxnSpPr>
          <p:nvPr/>
        </p:nvCxnSpPr>
        <p:spPr>
          <a:xfrm rot="5400000" flipV="1">
            <a:off x="8518140" y="4465876"/>
            <a:ext cx="25590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94D070D-C23D-7B0D-F242-8E1DBACDFCE7}"/>
              </a:ext>
            </a:extLst>
          </p:cNvPr>
          <p:cNvSpPr txBox="1"/>
          <p:nvPr/>
        </p:nvSpPr>
        <p:spPr>
          <a:xfrm>
            <a:off x="8690189" y="4326661"/>
            <a:ext cx="631904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death</a:t>
            </a:r>
          </a:p>
        </p:txBody>
      </p:sp>
    </p:spTree>
    <p:extLst>
      <p:ext uri="{BB962C8B-B14F-4D97-AF65-F5344CB8AC3E}">
        <p14:creationId xmlns:p14="http://schemas.microsoft.com/office/powerpoint/2010/main" val="40417696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A119311B-C663-75DA-CDC9-476C2DE94B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6179" y="-1088714"/>
            <a:ext cx="6316540" cy="2405327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A7065088-160D-4969-2311-BBCC7D3E6CBD}"/>
              </a:ext>
            </a:extLst>
          </p:cNvPr>
          <p:cNvGrpSpPr>
            <a:grpSpLocks noChangeAspect="1"/>
          </p:cNvGrpSpPr>
          <p:nvPr/>
        </p:nvGrpSpPr>
        <p:grpSpPr>
          <a:xfrm>
            <a:off x="9288983" y="1769290"/>
            <a:ext cx="5806033" cy="2129653"/>
            <a:chOff x="7782324" y="152504"/>
            <a:chExt cx="6487785" cy="2379721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11F18BB4-5A47-A108-4B42-512E3215DADF}"/>
                </a:ext>
              </a:extLst>
            </p:cNvPr>
            <p:cNvGrpSpPr/>
            <p:nvPr/>
          </p:nvGrpSpPr>
          <p:grpSpPr>
            <a:xfrm>
              <a:off x="7782324" y="152504"/>
              <a:ext cx="6487785" cy="2379721"/>
              <a:chOff x="-48240" y="2607141"/>
              <a:chExt cx="7343768" cy="2796649"/>
            </a:xfrm>
          </p:grpSpPr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04CF61C1-EA04-6103-EE91-4934F4ADE8A8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233472" y="2786937"/>
                <a:ext cx="7062056" cy="2616853"/>
                <a:chOff x="-119234" y="2927839"/>
                <a:chExt cx="8152321" cy="3020851"/>
              </a:xfrm>
            </p:grpSpPr>
            <p:pic>
              <p:nvPicPr>
                <p:cNvPr id="10" name="Picture 9">
                  <a:extLst>
                    <a:ext uri="{FF2B5EF4-FFF2-40B4-BE49-F238E27FC236}">
                      <a16:creationId xmlns:a16="http://schemas.microsoft.com/office/drawing/2014/main" id="{0373598F-0879-F5B5-CA35-95FF15177ED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-119234" y="2927839"/>
                  <a:ext cx="7772400" cy="3020851"/>
                </a:xfrm>
                <a:prstGeom prst="rect">
                  <a:avLst/>
                </a:prstGeom>
              </p:spPr>
            </p:pic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6B21E2A6-5165-976D-2E5B-7CBCBA86BB42}"/>
                    </a:ext>
                  </a:extLst>
                </p:cNvPr>
                <p:cNvSpPr txBox="1"/>
                <p:nvPr/>
              </p:nvSpPr>
              <p:spPr>
                <a:xfrm>
                  <a:off x="5914403" y="4499414"/>
                  <a:ext cx="2118684" cy="39064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000" b="1" dirty="0">
                      <a:solidFill>
                        <a:srgbClr val="FF0000"/>
                      </a:solidFill>
                    </a:rPr>
                    <a:t>Actual m = m</a:t>
                  </a:r>
                  <a:r>
                    <a:rPr lang="en-US" sz="1000" b="1" baseline="-25000" dirty="0">
                      <a:solidFill>
                        <a:srgbClr val="FF0000"/>
                      </a:solidFill>
                    </a:rPr>
                    <a:t>b</a:t>
                  </a:r>
                  <a:endParaRPr lang="en-US" sz="1000" b="1" dirty="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0697345A-1511-16E7-4E39-FF83895AB242}"/>
                    </a:ext>
                  </a:extLst>
                </p:cNvPr>
                <p:cNvSpPr txBox="1"/>
                <p:nvPr/>
              </p:nvSpPr>
              <p:spPr>
                <a:xfrm>
                  <a:off x="5650549" y="3872291"/>
                  <a:ext cx="2118684" cy="39064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000" b="1" dirty="0"/>
                    <a:t>Observed m &lt; m</a:t>
                  </a:r>
                  <a:r>
                    <a:rPr lang="en-US" sz="1000" b="1" baseline="-25000" dirty="0"/>
                    <a:t>b</a:t>
                  </a:r>
                  <a:endParaRPr lang="en-US" sz="1000" b="1" dirty="0"/>
                </a:p>
              </p:txBody>
            </p:sp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544A59B9-03F1-C345-4389-FFFADA1C57E1}"/>
                    </a:ext>
                  </a:extLst>
                </p:cNvPr>
                <p:cNvSpPr txBox="1"/>
                <p:nvPr/>
              </p:nvSpPr>
              <p:spPr>
                <a:xfrm>
                  <a:off x="2380437" y="5100729"/>
                  <a:ext cx="2118684" cy="39064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000" b="1" dirty="0">
                      <a:solidFill>
                        <a:srgbClr val="0432FF"/>
                      </a:solidFill>
                    </a:rPr>
                    <a:t>Observed m = m</a:t>
                  </a:r>
                  <a:r>
                    <a:rPr lang="en-US" sz="1000" b="1" baseline="-25000" dirty="0">
                      <a:solidFill>
                        <a:srgbClr val="0432FF"/>
                      </a:solidFill>
                    </a:rPr>
                    <a:t>p</a:t>
                  </a:r>
                  <a:endParaRPr lang="en-US" sz="1000" b="1" dirty="0">
                    <a:solidFill>
                      <a:srgbClr val="0432FF"/>
                    </a:solidFill>
                  </a:endParaRPr>
                </a:p>
              </p:txBody>
            </p:sp>
          </p:grp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E433440-1C52-714E-4E15-74E7147EDE5C}"/>
                  </a:ext>
                </a:extLst>
              </p:cNvPr>
              <p:cNvSpPr txBox="1"/>
              <p:nvPr/>
            </p:nvSpPr>
            <p:spPr>
              <a:xfrm>
                <a:off x="-48240" y="2607141"/>
                <a:ext cx="281712" cy="3595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300" dirty="0"/>
                  <a:t>B</a:t>
                </a:r>
              </a:p>
            </p:txBody>
          </p:sp>
        </p:grp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19040EA8-290B-5CE9-E9E1-31D7D030A575}"/>
                </a:ext>
              </a:extLst>
            </p:cNvPr>
            <p:cNvSpPr txBox="1"/>
            <p:nvPr/>
          </p:nvSpPr>
          <p:spPr>
            <a:xfrm>
              <a:off x="8670143" y="712102"/>
              <a:ext cx="1444189" cy="2879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b="1" dirty="0">
                  <a:solidFill>
                    <a:srgbClr val="0432FF"/>
                  </a:solidFill>
                </a:rPr>
                <a:t>1° infection 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96B0EF03-2215-918C-CA81-E2E9348228E6}"/>
                </a:ext>
              </a:extLst>
            </p:cNvPr>
            <p:cNvSpPr txBox="1"/>
            <p:nvPr/>
          </p:nvSpPr>
          <p:spPr>
            <a:xfrm>
              <a:off x="11157436" y="395430"/>
              <a:ext cx="1378161" cy="2879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b="1" dirty="0">
                  <a:solidFill>
                    <a:srgbClr val="FF0000"/>
                  </a:solidFill>
                </a:rPr>
                <a:t>2° infection </a:t>
              </a: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E8763514-3C25-A404-CB04-EDFA9294F992}"/>
              </a:ext>
            </a:extLst>
          </p:cNvPr>
          <p:cNvGrpSpPr/>
          <p:nvPr/>
        </p:nvGrpSpPr>
        <p:grpSpPr>
          <a:xfrm>
            <a:off x="1353431" y="703461"/>
            <a:ext cx="5625326" cy="4549259"/>
            <a:chOff x="1353431" y="703461"/>
            <a:chExt cx="5625326" cy="4549259"/>
          </a:xfrm>
        </p:grpSpPr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C4F0D1B7-B933-8453-C29A-CB54B44C937F}"/>
                </a:ext>
              </a:extLst>
            </p:cNvPr>
            <p:cNvGrpSpPr/>
            <p:nvPr/>
          </p:nvGrpSpPr>
          <p:grpSpPr>
            <a:xfrm>
              <a:off x="1376034" y="3102237"/>
              <a:ext cx="5562307" cy="2150483"/>
              <a:chOff x="1355714" y="3041277"/>
              <a:chExt cx="5562307" cy="2150483"/>
            </a:xfrm>
          </p:grpSpPr>
          <p:pic>
            <p:nvPicPr>
              <p:cNvPr id="50" name="Picture 49">
                <a:extLst>
                  <a:ext uri="{FF2B5EF4-FFF2-40B4-BE49-F238E27FC236}">
                    <a16:creationId xmlns:a16="http://schemas.microsoft.com/office/drawing/2014/main" id="{9937D80D-ED1C-D5E7-6893-81485359AF6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55714" y="3041277"/>
                <a:ext cx="5562307" cy="2150483"/>
              </a:xfrm>
              <a:prstGeom prst="rect">
                <a:avLst/>
              </a:prstGeom>
            </p:spPr>
          </p:pic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996339A0-4323-1813-01D3-2A2054BF77B4}"/>
                  </a:ext>
                </a:extLst>
              </p:cNvPr>
              <p:cNvSpPr/>
              <p:nvPr/>
            </p:nvSpPr>
            <p:spPr>
              <a:xfrm>
                <a:off x="5887720" y="3075567"/>
                <a:ext cx="483572" cy="9962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AAFF4E86-5312-04A1-976A-C31113882D7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353431" y="703461"/>
              <a:ext cx="5625326" cy="246791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086013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C5E9C58-4103-401F-F9CE-2458EF23E7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3208" y="2504755"/>
            <a:ext cx="4439522" cy="2547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59832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3157</TotalTime>
  <Words>280</Words>
  <Application>Microsoft Macintosh PowerPoint</Application>
  <PresentationFormat>Widescreen</PresentationFormat>
  <Paragraphs>110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Times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Antia, Rustom</dc:creator>
  <cp:lastModifiedBy>Hirst, Cora</cp:lastModifiedBy>
  <cp:revision>43</cp:revision>
  <dcterms:created xsi:type="dcterms:W3CDTF">2024-09-25T19:44:21Z</dcterms:created>
  <dcterms:modified xsi:type="dcterms:W3CDTF">2026-07-04T13:52:25Z</dcterms:modified>
</cp:coreProperties>
</file>